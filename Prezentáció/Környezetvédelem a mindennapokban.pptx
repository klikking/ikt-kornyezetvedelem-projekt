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4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459485"/>
            <a:ext cx="8572500" cy="561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2369939"/>
            <a:ext cx="9001125" cy="12703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5002"/>
              </a:lnSpc>
            </a:pPr>
            <a:r>
              <a:rPr sz="4350" b="1" i="0" u="none" dirty="0" err="1">
                <a:solidFill>
                  <a:srgbClr val="064E3B"/>
                </a:solidFill>
                <a:latin typeface="Outfit"/>
              </a:rPr>
              <a:t>Környezetvédelem</a:t>
            </a:r>
            <a:r>
              <a:rPr sz="4350" b="1" i="0" u="none" dirty="0">
                <a:solidFill>
                  <a:srgbClr val="064E3B"/>
                </a:solidFill>
                <a:latin typeface="Outfit"/>
              </a:rPr>
              <a:t> a </a:t>
            </a:r>
            <a:r>
              <a:rPr sz="4350" b="1" i="0" u="none" dirty="0" err="1">
                <a:solidFill>
                  <a:srgbClr val="064E3B"/>
                </a:solidFill>
                <a:latin typeface="Outfit"/>
              </a:rPr>
              <a:t>mindennapokban</a:t>
            </a:r>
            <a:endParaRPr sz="4350" b="1" i="0" u="none" dirty="0">
              <a:solidFill>
                <a:srgbClr val="064E3B"/>
              </a:solidFill>
              <a:latin typeface="Outfi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71500" y="3783210"/>
            <a:ext cx="7534275" cy="2952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25"/>
              </a:lnSpc>
            </a:pPr>
            <a:r>
              <a:rPr sz="1500" b="0" i="0" u="none">
                <a:solidFill>
                  <a:srgbClr val="047857"/>
                </a:solidFill>
                <a:latin typeface="Plus Jakarta Sans Medium"/>
              </a:rPr>
              <a:t>Gyakorlati lépések, lakossági adatok és felelős egyéni döntések a fenntarthatóságért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2" y="2092736"/>
            <a:ext cx="150018" cy="142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4669035"/>
            <a:ext cx="1362075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 err="1">
                <a:solidFill>
                  <a:srgbClr val="64748B"/>
                </a:solidFill>
                <a:latin typeface="Plus Jakarta Sans"/>
              </a:rPr>
              <a:t>Készítők</a:t>
            </a:r>
            <a:r>
              <a:rPr sz="1200" b="0" i="0" u="none" dirty="0">
                <a:solidFill>
                  <a:srgbClr val="1E293B"/>
                </a:solidFill>
                <a:latin typeface="Plus Jakarta Sans"/>
              </a:rPr>
              <a:t> </a:t>
            </a:r>
            <a:endParaRPr lang="hu-HU" sz="1200" b="0" i="0" u="none" dirty="0">
              <a:solidFill>
                <a:srgbClr val="1E293B"/>
              </a:solidFill>
              <a:latin typeface="Plus Jakarta Sans"/>
            </a:endParaRPr>
          </a:p>
          <a:p>
            <a:pPr algn="l"/>
            <a:r>
              <a:rPr lang="hu-HU" sz="1200" dirty="0" err="1">
                <a:solidFill>
                  <a:srgbClr val="0F172A"/>
                </a:solidFill>
                <a:latin typeface="Plus Jakarta Sans SemiBold"/>
              </a:rPr>
              <a:t>Szlifka</a:t>
            </a:r>
            <a:r>
              <a:rPr lang="hu-HU" sz="1200" dirty="0">
                <a:solidFill>
                  <a:srgbClr val="0F172A"/>
                </a:solidFill>
                <a:latin typeface="Plus Jakarta Sans SemiBold"/>
              </a:rPr>
              <a:t> Szilveszter </a:t>
            </a:r>
          </a:p>
          <a:p>
            <a:pPr algn="l"/>
            <a:r>
              <a:rPr lang="hu-HU" sz="1200" dirty="0">
                <a:solidFill>
                  <a:srgbClr val="0F172A"/>
                </a:solidFill>
                <a:latin typeface="Plus Jakarta Sans SemiBold"/>
              </a:rPr>
              <a:t>Nagy Dávid Viktor</a:t>
            </a:r>
            <a:endParaRPr sz="1200" b="0" i="0" u="none" dirty="0">
              <a:solidFill>
                <a:srgbClr val="0F172A"/>
              </a:solidFill>
              <a:latin typeface="Plus Jakarta Sans Semi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05401" y="3133278"/>
            <a:ext cx="9581197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50" b="1" i="0" u="none" dirty="0">
                <a:solidFill>
                  <a:srgbClr val="064E3B"/>
                </a:solidFill>
                <a:latin typeface="Outfit"/>
              </a:rPr>
              <a:t>I. </a:t>
            </a:r>
            <a:r>
              <a:rPr sz="4050" b="1" i="0" u="none" dirty="0" err="1">
                <a:solidFill>
                  <a:srgbClr val="064E3B"/>
                </a:solidFill>
                <a:latin typeface="Outfit"/>
              </a:rPr>
              <a:t>Globális</a:t>
            </a:r>
            <a:r>
              <a:rPr sz="4050" b="1" i="0" u="none" dirty="0">
                <a:solidFill>
                  <a:srgbClr val="064E3B"/>
                </a:solidFill>
                <a:latin typeface="Outfit"/>
              </a:rPr>
              <a:t> </a:t>
            </a:r>
            <a:r>
              <a:rPr sz="4050" b="1" i="0" u="none" dirty="0" err="1">
                <a:solidFill>
                  <a:srgbClr val="064E3B"/>
                </a:solidFill>
                <a:latin typeface="Outfit"/>
              </a:rPr>
              <a:t>Helyzet</a:t>
            </a:r>
            <a:r>
              <a:rPr sz="4050" b="1" i="0" u="none" dirty="0">
                <a:solidFill>
                  <a:srgbClr val="064E3B"/>
                </a:solidFill>
                <a:latin typeface="Outfit"/>
              </a:rPr>
              <a:t> </a:t>
            </a:r>
            <a:r>
              <a:rPr sz="4050" b="1" i="0" u="none" dirty="0" err="1">
                <a:solidFill>
                  <a:srgbClr val="064E3B"/>
                </a:solidFill>
                <a:latin typeface="Outfit"/>
              </a:rPr>
              <a:t>és</a:t>
            </a:r>
            <a:r>
              <a:rPr sz="4050" b="1" i="0" u="none" dirty="0">
                <a:solidFill>
                  <a:srgbClr val="064E3B"/>
                </a:solidFill>
                <a:latin typeface="Outfit"/>
              </a:rPr>
              <a:t> </a:t>
            </a:r>
            <a:r>
              <a:rPr sz="4050" b="1" i="0" u="none" dirty="0" err="1">
                <a:solidFill>
                  <a:srgbClr val="064E3B"/>
                </a:solidFill>
                <a:latin typeface="Outfit"/>
              </a:rPr>
              <a:t>Egyéni</a:t>
            </a:r>
            <a:r>
              <a:rPr sz="4050" b="1" i="0" u="none" dirty="0">
                <a:solidFill>
                  <a:srgbClr val="064E3B"/>
                </a:solidFill>
                <a:latin typeface="Outfit"/>
              </a:rPr>
              <a:t> </a:t>
            </a:r>
            <a:r>
              <a:rPr sz="4050" b="1" i="0" u="none" dirty="0" err="1">
                <a:solidFill>
                  <a:srgbClr val="064E3B"/>
                </a:solidFill>
                <a:latin typeface="Outfit"/>
              </a:rPr>
              <a:t>Felelősség</a:t>
            </a:r>
            <a:endParaRPr sz="4050" b="1" i="0" u="none" dirty="0">
              <a:solidFill>
                <a:srgbClr val="064E3B"/>
              </a:solidFill>
              <a:latin typeface="Outfi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66987" y="3923853"/>
            <a:ext cx="7058025" cy="3247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7"/>
              </a:lnSpc>
            </a:pPr>
            <a:r>
              <a:rPr sz="1650" b="0" i="0" u="none" dirty="0">
                <a:solidFill>
                  <a:srgbClr val="047857"/>
                </a:solidFill>
                <a:latin typeface="Plus Jakarta Sans"/>
              </a:rPr>
              <a:t>A </a:t>
            </a:r>
            <a:r>
              <a:rPr sz="1650" b="0" i="0" u="none" dirty="0" err="1">
                <a:solidFill>
                  <a:srgbClr val="047857"/>
                </a:solidFill>
                <a:latin typeface="Plus Jakarta Sans"/>
              </a:rPr>
              <a:t>túlfogyasztás</a:t>
            </a:r>
            <a:r>
              <a:rPr sz="1650" b="0" i="0" u="none" dirty="0">
                <a:solidFill>
                  <a:srgbClr val="047857"/>
                </a:solidFill>
                <a:latin typeface="Plus Jakarta Sans"/>
              </a:rPr>
              <a:t> </a:t>
            </a:r>
            <a:r>
              <a:rPr sz="1650" b="0" i="0" u="none" dirty="0" err="1">
                <a:solidFill>
                  <a:srgbClr val="047857"/>
                </a:solidFill>
                <a:latin typeface="Plus Jakarta Sans"/>
              </a:rPr>
              <a:t>kihívásai</a:t>
            </a:r>
            <a:r>
              <a:rPr sz="1650" b="0" i="0" u="none" dirty="0">
                <a:solidFill>
                  <a:srgbClr val="047857"/>
                </a:solidFill>
                <a:latin typeface="Plus Jakarta Sans"/>
              </a:rPr>
              <a:t> </a:t>
            </a:r>
            <a:r>
              <a:rPr sz="1650" b="0" i="0" u="none" dirty="0" err="1">
                <a:solidFill>
                  <a:srgbClr val="047857"/>
                </a:solidFill>
                <a:latin typeface="Plus Jakarta Sans"/>
              </a:rPr>
              <a:t>és</a:t>
            </a:r>
            <a:r>
              <a:rPr sz="1650" b="0" i="0" u="none" dirty="0">
                <a:solidFill>
                  <a:srgbClr val="047857"/>
                </a:solidFill>
                <a:latin typeface="Plus Jakarta Sans"/>
              </a:rPr>
              <a:t> </a:t>
            </a:r>
            <a:r>
              <a:rPr sz="1650" b="0" i="0" u="none" dirty="0" err="1">
                <a:solidFill>
                  <a:srgbClr val="047857"/>
                </a:solidFill>
                <a:latin typeface="Plus Jakarta Sans"/>
              </a:rPr>
              <a:t>az</a:t>
            </a:r>
            <a:r>
              <a:rPr sz="1650" b="0" i="0" u="none" dirty="0">
                <a:solidFill>
                  <a:srgbClr val="047857"/>
                </a:solidFill>
                <a:latin typeface="Plus Jakarta Sans"/>
              </a:rPr>
              <a:t> </a:t>
            </a:r>
            <a:r>
              <a:rPr sz="1650" b="0" i="0" u="none" dirty="0" err="1">
                <a:solidFill>
                  <a:srgbClr val="047857"/>
                </a:solidFill>
                <a:latin typeface="Plus Jakarta Sans"/>
              </a:rPr>
              <a:t>ökológiai</a:t>
            </a:r>
            <a:r>
              <a:rPr sz="1650" b="0" i="0" u="none" dirty="0">
                <a:solidFill>
                  <a:srgbClr val="047857"/>
                </a:solidFill>
                <a:latin typeface="Plus Jakarta Sans"/>
              </a:rPr>
              <a:t> </a:t>
            </a:r>
            <a:r>
              <a:rPr sz="1650" b="0" i="0" u="none" dirty="0" err="1">
                <a:solidFill>
                  <a:srgbClr val="047857"/>
                </a:solidFill>
                <a:latin typeface="Plus Jakarta Sans"/>
              </a:rPr>
              <a:t>lábnyom</a:t>
            </a:r>
            <a:r>
              <a:rPr sz="1650" b="0" i="0" u="none" dirty="0">
                <a:solidFill>
                  <a:srgbClr val="047857"/>
                </a:solidFill>
                <a:latin typeface="Plus Jakarta Sans"/>
              </a:rPr>
              <a:t> </a:t>
            </a:r>
            <a:r>
              <a:rPr sz="1650" b="0" i="0" u="none" dirty="0" err="1">
                <a:solidFill>
                  <a:srgbClr val="047857"/>
                </a:solidFill>
                <a:latin typeface="Plus Jakarta Sans"/>
              </a:rPr>
              <a:t>alakulása</a:t>
            </a:r>
            <a:r>
              <a:rPr sz="1650" b="0" i="0" u="none" dirty="0">
                <a:solidFill>
                  <a:srgbClr val="047857"/>
                </a:solidFill>
                <a:latin typeface="Plus Jakarta Sans"/>
              </a:rPr>
              <a:t> </a:t>
            </a:r>
            <a:r>
              <a:rPr sz="1650" b="0" i="0" u="none" dirty="0" err="1">
                <a:solidFill>
                  <a:srgbClr val="047857"/>
                </a:solidFill>
                <a:latin typeface="Plus Jakarta Sans"/>
              </a:rPr>
              <a:t>napjainkban</a:t>
            </a:r>
            <a:endParaRPr sz="1650" b="0" i="0" u="none" dirty="0">
              <a:solidFill>
                <a:srgbClr val="047857"/>
              </a:solidFill>
              <a:latin typeface="Plus Jakarta San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952625"/>
            <a:ext cx="5334000" cy="3619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0100" y="1952625"/>
            <a:ext cx="5105400" cy="752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1" i="0" u="none">
                <a:solidFill>
                  <a:srgbClr val="334155"/>
                </a:solidFill>
                <a:latin typeface="Plus Jakarta Sans"/>
              </a:rPr>
              <a:t>Túlfogyasztás Napja (WWF):</a:t>
            </a:r>
            <a:r>
              <a:rPr sz="1275" b="0" i="0" u="none">
                <a:solidFill>
                  <a:srgbClr val="334155"/>
                </a:solidFill>
                <a:latin typeface="Plus Jakarta Sans"/>
              </a:rPr>
              <a:t> Az emberiség éves erőforrás-kerete már az év közepén kimerül, ezt követően a bolygó tartalékait éljük fel.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838747"/>
            <a:ext cx="5105400" cy="501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1" i="0" u="none">
                <a:solidFill>
                  <a:srgbClr val="334155"/>
                </a:solidFill>
                <a:latin typeface="Plus Jakarta Sans"/>
              </a:rPr>
              <a:t>Hazai adatok (KSH):</a:t>
            </a:r>
            <a:r>
              <a:rPr sz="1275" b="0" i="0" u="none">
                <a:solidFill>
                  <a:srgbClr val="334155"/>
                </a:solidFill>
                <a:latin typeface="Plus Jakarta Sans"/>
              </a:rPr>
              <a:t> Magyarországon az átlagos egy főre jutó karbonlábnyom 6,14 tonna CO₂/év.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3473946"/>
            <a:ext cx="5105400" cy="752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1" i="0" u="none">
                <a:solidFill>
                  <a:srgbClr val="334155"/>
                </a:solidFill>
                <a:latin typeface="Plus Jakarta Sans"/>
              </a:rPr>
              <a:t>Tudatosság szintek:</a:t>
            </a:r>
            <a:r>
              <a:rPr sz="1275" b="0" i="0" u="none">
                <a:solidFill>
                  <a:srgbClr val="334155"/>
                </a:solidFill>
                <a:latin typeface="Plus Jakarta Sans"/>
              </a:rPr>
              <a:t> A felmérések szerint a lakosság többsége felismeri a klímaváltozást, de az egyéni tettekben még jelentős a szakadék.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4360068"/>
            <a:ext cx="5105400" cy="501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1" i="0" u="none">
                <a:solidFill>
                  <a:srgbClr val="334155"/>
                </a:solidFill>
                <a:latin typeface="Plus Jakarta Sans"/>
              </a:rPr>
              <a:t>Egyéni hatás:</a:t>
            </a:r>
            <a:r>
              <a:rPr sz="1275" b="0" i="0" u="none">
                <a:solidFill>
                  <a:srgbClr val="334155"/>
                </a:solidFill>
                <a:latin typeface="Plus Jakarta Sans"/>
              </a:rPr>
              <a:t> A háztartások közvetlen döntései felelősek a globális kibocsátások több mint 60%-áért.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952625"/>
            <a:ext cx="53340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1500" y="1914525"/>
            <a:ext cx="123825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1800" b="0" i="0" u="none">
                <a:solidFill>
                  <a:srgbClr val="10B981"/>
                </a:solidFill>
                <a:latin typeface="Plus Jakarta San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2800647"/>
            <a:ext cx="123825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1800" b="0" i="0" u="none">
                <a:solidFill>
                  <a:srgbClr val="10B981"/>
                </a:solidFill>
                <a:latin typeface="Plus Jakarta San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3435846"/>
            <a:ext cx="123825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1800" b="0" i="0" u="none">
                <a:solidFill>
                  <a:srgbClr val="10B981"/>
                </a:solidFill>
                <a:latin typeface="Plus Jakarta San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4321968"/>
            <a:ext cx="123825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1800" b="0" i="0" u="none">
                <a:solidFill>
                  <a:srgbClr val="10B981"/>
                </a:solidFill>
                <a:latin typeface="Plus Jakarta San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u="none">
                <a:solidFill>
                  <a:srgbClr val="064E3B"/>
                </a:solidFill>
                <a:latin typeface="Outfit"/>
              </a:rPr>
              <a:t>Ökológiai Lábnyom és Helyzetkép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" y="904875"/>
            <a:ext cx="7620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466677"/>
            <a:ext cx="5334000" cy="259139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466677"/>
            <a:ext cx="5334000" cy="25913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09675" y="2809577"/>
            <a:ext cx="4570571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 u="none" dirty="0" err="1">
                <a:solidFill>
                  <a:srgbClr val="047857"/>
                </a:solidFill>
                <a:latin typeface="Outfit SemiBold"/>
              </a:rPr>
              <a:t>Energiahatékonyság</a:t>
            </a:r>
            <a:endParaRPr sz="1800" b="0" i="0" u="none" dirty="0">
              <a:solidFill>
                <a:srgbClr val="047857"/>
              </a:solidFill>
              <a:latin typeface="Outfit SemiBol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3209627"/>
            <a:ext cx="4648200" cy="501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1" i="0" u="none">
                <a:solidFill>
                  <a:srgbClr val="334155"/>
                </a:solidFill>
                <a:latin typeface="Plus Jakarta Sans"/>
              </a:rPr>
              <a:t>LED világítás:</a:t>
            </a:r>
            <a:r>
              <a:rPr sz="1275" b="0" i="0" u="none">
                <a:solidFill>
                  <a:srgbClr val="334155"/>
                </a:solidFill>
                <a:latin typeface="Plus Jakarta Sans"/>
              </a:rPr>
              <a:t> Akár 80%-kal kevesebb áramot fogyaszt a hagyományos izzóknál.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11475"/>
            <a:ext cx="4648200" cy="501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1" i="0" u="none" dirty="0">
                <a:solidFill>
                  <a:srgbClr val="334155"/>
                </a:solidFill>
                <a:latin typeface="Plus Jakarta Sans"/>
              </a:rPr>
              <a:t>Standby </a:t>
            </a:r>
            <a:r>
              <a:rPr sz="1275" b="1" i="0" u="none" dirty="0" err="1">
                <a:solidFill>
                  <a:srgbClr val="334155"/>
                </a:solidFill>
                <a:latin typeface="Plus Jakarta Sans"/>
              </a:rPr>
              <a:t>üzemmód</a:t>
            </a:r>
            <a:r>
              <a:rPr sz="1275" b="1" i="0" u="none" dirty="0">
                <a:solidFill>
                  <a:srgbClr val="334155"/>
                </a:solidFill>
                <a:latin typeface="Plus Jakarta Sans"/>
              </a:rPr>
              <a:t>: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A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használaton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kívüli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eszközök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lekapcsolása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5-10%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megtakarítást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jelenthet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13324"/>
            <a:ext cx="4648200" cy="501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1" i="0" u="none">
                <a:solidFill>
                  <a:srgbClr val="334155"/>
                </a:solidFill>
                <a:latin typeface="Plus Jakarta Sans"/>
              </a:rPr>
              <a:t>Intelligens fűtés:</a:t>
            </a:r>
            <a:r>
              <a:rPr sz="1275" b="0" i="0" u="none">
                <a:solidFill>
                  <a:srgbClr val="334155"/>
                </a:solidFill>
                <a:latin typeface="Plus Jakarta Sans"/>
              </a:rPr>
              <a:t> 1°C-os hőmérséklet-csökkentés mintegy 6% energiamegtakarítást eredményez.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96100" y="2809577"/>
            <a:ext cx="4600575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 u="none">
                <a:solidFill>
                  <a:srgbClr val="047857"/>
                </a:solidFill>
                <a:latin typeface="Outfit SemiBold"/>
              </a:rPr>
              <a:t>Felelős Vízhasználat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209627"/>
            <a:ext cx="4648200" cy="501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1" i="0" u="none">
                <a:solidFill>
                  <a:srgbClr val="334155"/>
                </a:solidFill>
                <a:latin typeface="Plus Jakarta Sans"/>
              </a:rPr>
              <a:t>Víztakarékos perlátorok:</a:t>
            </a:r>
            <a:r>
              <a:rPr sz="1275" b="0" i="0" u="none">
                <a:solidFill>
                  <a:srgbClr val="334155"/>
                </a:solidFill>
                <a:latin typeface="Plus Jakarta Sans"/>
              </a:rPr>
              <a:t> A csaptelepekre szerelve 30-50%-kal csökkentik a vízátfolyást.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711475"/>
            <a:ext cx="4648200" cy="501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1" i="0" u="none">
                <a:solidFill>
                  <a:srgbClr val="334155"/>
                </a:solidFill>
                <a:latin typeface="Plus Jakarta Sans"/>
              </a:rPr>
              <a:t>Zuhanyzás vs. Fürdés:</a:t>
            </a:r>
            <a:r>
              <a:rPr sz="1275" b="0" i="0" u="none">
                <a:solidFill>
                  <a:srgbClr val="334155"/>
                </a:solidFill>
                <a:latin typeface="Plus Jakarta Sans"/>
              </a:rPr>
              <a:t> Egy gyors zuhanyzással átlagosan 70-100 liter vizet takarítunk meg.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213324"/>
            <a:ext cx="4648200" cy="501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1" i="0" u="none">
                <a:solidFill>
                  <a:srgbClr val="334155"/>
                </a:solidFill>
                <a:latin typeface="Plus Jakarta Sans"/>
              </a:rPr>
              <a:t>Esővízgyűjtés:</a:t>
            </a:r>
            <a:r>
              <a:rPr sz="1275" b="0" i="0" u="none">
                <a:solidFill>
                  <a:srgbClr val="334155"/>
                </a:solidFill>
                <a:latin typeface="Plus Jakarta Sans"/>
              </a:rPr>
              <a:t> A kertöntözés és növényápolás ingyenes, klórmentes alternatívája.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2838152"/>
            <a:ext cx="200025" cy="2286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2838152"/>
            <a:ext cx="17145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u="none" dirty="0">
                <a:solidFill>
                  <a:srgbClr val="064E3B"/>
                </a:solidFill>
                <a:latin typeface="Outfit"/>
              </a:rPr>
              <a:t>Energia- </a:t>
            </a:r>
            <a:r>
              <a:rPr sz="2700" b="1" i="0" u="none" dirty="0" err="1">
                <a:solidFill>
                  <a:srgbClr val="064E3B"/>
                </a:solidFill>
                <a:latin typeface="Outfit"/>
              </a:rPr>
              <a:t>és</a:t>
            </a:r>
            <a:r>
              <a:rPr sz="2700" b="1" i="0" u="none" dirty="0">
                <a:solidFill>
                  <a:srgbClr val="064E3B"/>
                </a:solidFill>
                <a:latin typeface="Outfit"/>
              </a:rPr>
              <a:t> </a:t>
            </a:r>
            <a:r>
              <a:rPr sz="2700" b="1" i="0" u="none" dirty="0" err="1">
                <a:solidFill>
                  <a:srgbClr val="064E3B"/>
                </a:solidFill>
                <a:latin typeface="Outfit"/>
              </a:rPr>
              <a:t>Víztakarékosság</a:t>
            </a:r>
            <a:endParaRPr sz="2700" b="1" i="0" u="none" dirty="0">
              <a:solidFill>
                <a:srgbClr val="064E3B"/>
              </a:solidFill>
              <a:latin typeface="Outfit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71500" y="904875"/>
            <a:ext cx="7620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5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09675"/>
            <a:ext cx="3228975" cy="275526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5" y="1209675"/>
            <a:ext cx="3228975" cy="275526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7674" y="1209675"/>
            <a:ext cx="3228975" cy="275526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237" y="1391989"/>
            <a:ext cx="571500" cy="571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7237" y="2131248"/>
            <a:ext cx="244030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 dirty="0">
                <a:solidFill>
                  <a:srgbClr val="0F5132"/>
                </a:solidFill>
                <a:latin typeface="Outfit SemiBold"/>
              </a:rPr>
              <a:t>1. Re</a:t>
            </a:r>
            <a:r>
              <a:rPr lang="hu-HU" sz="1800" b="0" i="0" u="none" dirty="0" err="1">
                <a:solidFill>
                  <a:srgbClr val="0F5132"/>
                </a:solidFill>
                <a:latin typeface="Outfit SemiBold"/>
              </a:rPr>
              <a:t>fuse</a:t>
            </a:r>
            <a:r>
              <a:rPr sz="1800" b="0" i="0" u="none" dirty="0">
                <a:solidFill>
                  <a:srgbClr val="0F5132"/>
                </a:solidFill>
                <a:latin typeface="Outfit SemiBold"/>
              </a:rPr>
              <a:t> (</a:t>
            </a:r>
            <a:r>
              <a:rPr lang="hu-HU" dirty="0">
                <a:solidFill>
                  <a:srgbClr val="0F5132"/>
                </a:solidFill>
                <a:latin typeface="Outfit SemiBold"/>
              </a:rPr>
              <a:t>Elutasítás</a:t>
            </a:r>
            <a:r>
              <a:rPr sz="1800" b="0" i="0" u="none" dirty="0">
                <a:solidFill>
                  <a:srgbClr val="0F5132"/>
                </a:solidFill>
                <a:latin typeface="Outfit SemiBold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137" y="2587307"/>
            <a:ext cx="2933700" cy="10049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976"/>
              </a:lnSpc>
            </a:pPr>
            <a:r>
              <a:rPr lang="hu-HU" sz="1275" b="0" i="0" u="none" dirty="0">
                <a:solidFill>
                  <a:srgbClr val="334155"/>
                </a:solidFill>
                <a:latin typeface="Plus Jakarta Sans"/>
              </a:rPr>
              <a:t>A legzöldebb hulladék az, ami meg sem születik. Mondj nemet az egyszer használatos műanyagokra, felesleges csomagolásokra és az utcai szórólapokra!</a:t>
            </a:r>
            <a:endParaRPr sz="1275" b="0" i="0" u="none" dirty="0">
              <a:solidFill>
                <a:srgbClr val="334155"/>
              </a:solidFill>
              <a:latin typeface="Plus Jakarta Sa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5790" y="1391989"/>
            <a:ext cx="571500" cy="571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15790" y="2125414"/>
            <a:ext cx="2590323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hu-HU" dirty="0">
                <a:solidFill>
                  <a:srgbClr val="0F5132"/>
                </a:solidFill>
                <a:latin typeface="Outfit SemiBold"/>
              </a:rPr>
              <a:t>3</a:t>
            </a:r>
            <a:r>
              <a:rPr sz="1800" b="0" i="0" u="none" dirty="0">
                <a:solidFill>
                  <a:srgbClr val="0F5132"/>
                </a:solidFill>
                <a:latin typeface="Outfit SemiBold"/>
              </a:rPr>
              <a:t>. Reuse (</a:t>
            </a:r>
            <a:r>
              <a:rPr lang="hu-HU" dirty="0">
                <a:solidFill>
                  <a:srgbClr val="0F5132"/>
                </a:solidFill>
                <a:latin typeface="Outfit SemiBold"/>
              </a:rPr>
              <a:t>Használd újra</a:t>
            </a:r>
            <a:r>
              <a:rPr sz="1800" b="0" i="0" u="none" dirty="0">
                <a:solidFill>
                  <a:srgbClr val="0F5132"/>
                </a:solidFill>
                <a:latin typeface="Outfit SemiBold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5790" y="2554039"/>
            <a:ext cx="2933700" cy="12546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A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tárgyak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élettartamának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meghosszabbítása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javítással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,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adományozással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,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másodkézből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történő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vásárlással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és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többször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használható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eszközökkel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162" y="1553914"/>
            <a:ext cx="247650" cy="2476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77715" y="1548269"/>
            <a:ext cx="247650" cy="2476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u="none" dirty="0">
                <a:solidFill>
                  <a:srgbClr val="064E3B"/>
                </a:solidFill>
                <a:latin typeface="Outfit"/>
              </a:rPr>
              <a:t>A </a:t>
            </a:r>
            <a:r>
              <a:rPr sz="2700" b="1" i="0" u="none" dirty="0" err="1">
                <a:solidFill>
                  <a:srgbClr val="064E3B"/>
                </a:solidFill>
                <a:latin typeface="Outfit"/>
              </a:rPr>
              <a:t>Hulladékmentesség</a:t>
            </a:r>
            <a:r>
              <a:rPr sz="2700" b="1" i="0" u="none" dirty="0">
                <a:solidFill>
                  <a:srgbClr val="064E3B"/>
                </a:solidFill>
                <a:latin typeface="Outfit"/>
              </a:rPr>
              <a:t> </a:t>
            </a:r>
            <a:r>
              <a:rPr sz="2700" b="1" i="0" u="none" dirty="0" err="1">
                <a:solidFill>
                  <a:srgbClr val="064E3B"/>
                </a:solidFill>
                <a:latin typeface="Outfit"/>
              </a:rPr>
              <a:t>Alapelvei</a:t>
            </a:r>
            <a:r>
              <a:rPr sz="2700" b="1" i="0" u="none" dirty="0">
                <a:solidFill>
                  <a:srgbClr val="064E3B"/>
                </a:solidFill>
                <a:latin typeface="Outfit"/>
              </a:rPr>
              <a:t> (</a:t>
            </a:r>
            <a:r>
              <a:rPr lang="hu-HU" sz="2700" b="1" i="0" u="none" dirty="0">
                <a:solidFill>
                  <a:srgbClr val="064E3B"/>
                </a:solidFill>
                <a:latin typeface="Outfit"/>
              </a:rPr>
              <a:t>5</a:t>
            </a:r>
            <a:r>
              <a:rPr sz="2700" b="1" i="0" u="none" dirty="0">
                <a:solidFill>
                  <a:srgbClr val="064E3B"/>
                </a:solidFill>
                <a:latin typeface="Outfit"/>
              </a:rPr>
              <a:t>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904875"/>
            <a:ext cx="7620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BDF1C25A-257B-D5A2-3604-F041AE7E1BD5}"/>
              </a:ext>
            </a:extLst>
          </p:cNvPr>
          <p:cNvSpPr txBox="1"/>
          <p:nvPr/>
        </p:nvSpPr>
        <p:spPr>
          <a:xfrm>
            <a:off x="4523900" y="2131248"/>
            <a:ext cx="244030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hu-HU" dirty="0">
                <a:solidFill>
                  <a:srgbClr val="0F5132"/>
                </a:solidFill>
                <a:latin typeface="Outfit SemiBold"/>
              </a:rPr>
              <a:t>2</a:t>
            </a:r>
            <a:r>
              <a:rPr sz="1800" b="0" i="0" u="none" dirty="0">
                <a:solidFill>
                  <a:srgbClr val="0F5132"/>
                </a:solidFill>
                <a:latin typeface="Outfit SemiBold"/>
              </a:rPr>
              <a:t>. Reduce (</a:t>
            </a:r>
            <a:r>
              <a:rPr sz="1800" b="0" i="0" u="none" dirty="0" err="1">
                <a:solidFill>
                  <a:srgbClr val="0F5132"/>
                </a:solidFill>
                <a:latin typeface="Outfit SemiBold"/>
              </a:rPr>
              <a:t>Csökkentés</a:t>
            </a:r>
            <a:r>
              <a:rPr sz="1800" b="0" i="0" u="none" dirty="0">
                <a:solidFill>
                  <a:srgbClr val="0F5132"/>
                </a:solidFill>
                <a:latin typeface="Outfit SemiBold"/>
              </a:rPr>
              <a:t>)</a:t>
            </a:r>
          </a:p>
        </p:txBody>
      </p:sp>
      <p:sp>
        <p:nvSpPr>
          <p:cNvPr id="21" name="TextBox 7">
            <a:extLst>
              <a:ext uri="{FF2B5EF4-FFF2-40B4-BE49-F238E27FC236}">
                <a16:creationId xmlns:a16="http://schemas.microsoft.com/office/drawing/2014/main" id="{BDAD7DAE-4241-4AD1-9C1C-90082706C884}"/>
              </a:ext>
            </a:extLst>
          </p:cNvPr>
          <p:cNvSpPr txBox="1"/>
          <p:nvPr/>
        </p:nvSpPr>
        <p:spPr>
          <a:xfrm>
            <a:off x="4495800" y="2587307"/>
            <a:ext cx="2933700" cy="10049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lang="hu-HU" sz="1275" b="0" i="0" u="none" dirty="0">
                <a:solidFill>
                  <a:srgbClr val="334155"/>
                </a:solidFill>
                <a:latin typeface="Plus Jakarta Sans"/>
              </a:rPr>
              <a:t>Vásárolj tudatosan és mértékkel! Mielőtt a kosaradba teszel valamit, tedd fel a kérdést: valóban szükséged van rá, vagy csak a pillanatnyi vágy vezérel?</a:t>
            </a:r>
            <a:endParaRPr sz="1275" b="0" i="0" u="none" dirty="0">
              <a:solidFill>
                <a:srgbClr val="334155"/>
              </a:solidFill>
              <a:latin typeface="Plus Jakarta Sans"/>
            </a:endParaRPr>
          </a:p>
        </p:txBody>
      </p:sp>
      <p:pic>
        <p:nvPicPr>
          <p:cNvPr id="22" name="Picture 3" descr="image.png">
            <a:extLst>
              <a:ext uri="{FF2B5EF4-FFF2-40B4-BE49-F238E27FC236}">
                <a16:creationId xmlns:a16="http://schemas.microsoft.com/office/drawing/2014/main" id="{C387E961-1A7C-EFEC-106E-A252161744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5" y="4030655"/>
            <a:ext cx="3228975" cy="275526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86359" y="4350427"/>
            <a:ext cx="571500" cy="571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3040" y="5089269"/>
            <a:ext cx="256032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hu-HU" dirty="0">
                <a:solidFill>
                  <a:srgbClr val="0F5132"/>
                </a:solidFill>
                <a:latin typeface="Outfit SemiBold"/>
              </a:rPr>
              <a:t>5</a:t>
            </a:r>
            <a:r>
              <a:rPr sz="1800" b="0" i="0" u="none" dirty="0">
                <a:solidFill>
                  <a:srgbClr val="0F5132"/>
                </a:solidFill>
                <a:latin typeface="Outfit SemiBold"/>
              </a:rPr>
              <a:t>. Recycle (</a:t>
            </a:r>
            <a:r>
              <a:rPr sz="1800" b="0" i="0" u="none" dirty="0" err="1">
                <a:solidFill>
                  <a:srgbClr val="0F5132"/>
                </a:solidFill>
                <a:latin typeface="Outfit SemiBold"/>
              </a:rPr>
              <a:t>Hasznosítás</a:t>
            </a:r>
            <a:r>
              <a:rPr sz="1800" b="0" i="0" u="none" dirty="0">
                <a:solidFill>
                  <a:srgbClr val="0F5132"/>
                </a:solidFill>
                <a:latin typeface="Outfit SemiBold"/>
              </a:rPr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3040" y="5545328"/>
            <a:ext cx="2933700" cy="10036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A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keletkezett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hulladék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szelektív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gyűjtése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és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eljuttatása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a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megfelelő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újrahasznosítási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csatornákba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és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 </a:t>
            </a:r>
            <a:r>
              <a:rPr sz="1275" b="0" i="0" u="none" dirty="0" err="1">
                <a:solidFill>
                  <a:srgbClr val="334155"/>
                </a:solidFill>
                <a:latin typeface="Plus Jakarta Sans"/>
              </a:rPr>
              <a:t>gyűjtőszigetekre</a:t>
            </a:r>
            <a:r>
              <a:rPr sz="1275" b="0" i="0" u="none" dirty="0">
                <a:solidFill>
                  <a:srgbClr val="334155"/>
                </a:solidFill>
                <a:latin typeface="Plus Jakarta Sans"/>
              </a:rPr>
              <a:t>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48284" y="4512352"/>
            <a:ext cx="247650" cy="247650"/>
          </a:xfrm>
          <a:prstGeom prst="rect">
            <a:avLst/>
          </a:prstGeom>
        </p:spPr>
      </p:pic>
      <p:pic>
        <p:nvPicPr>
          <p:cNvPr id="23" name="Picture 3" descr="image.png">
            <a:extLst>
              <a:ext uri="{FF2B5EF4-FFF2-40B4-BE49-F238E27FC236}">
                <a16:creationId xmlns:a16="http://schemas.microsoft.com/office/drawing/2014/main" id="{A46505A9-2CCF-7180-EFD9-DF76DAE407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033837"/>
            <a:ext cx="3228975" cy="2755265"/>
          </a:xfrm>
          <a:prstGeom prst="rect">
            <a:avLst/>
          </a:prstGeom>
        </p:spPr>
      </p:pic>
      <p:pic>
        <p:nvPicPr>
          <p:cNvPr id="24" name="Picture 11" descr="image.png">
            <a:extLst>
              <a:ext uri="{FF2B5EF4-FFF2-40B4-BE49-F238E27FC236}">
                <a16:creationId xmlns:a16="http://schemas.microsoft.com/office/drawing/2014/main" id="{9893A7D5-83FA-1FB7-679C-158CC3E9FF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84" y="4353609"/>
            <a:ext cx="571500" cy="571500"/>
          </a:xfrm>
          <a:prstGeom prst="rect">
            <a:avLst/>
          </a:prstGeom>
        </p:spPr>
      </p:pic>
      <p:sp>
        <p:nvSpPr>
          <p:cNvPr id="25" name="TextBox 12">
            <a:extLst>
              <a:ext uri="{FF2B5EF4-FFF2-40B4-BE49-F238E27FC236}">
                <a16:creationId xmlns:a16="http://schemas.microsoft.com/office/drawing/2014/main" id="{734F8227-82AA-10D3-D9C8-56F62043EFAA}"/>
              </a:ext>
            </a:extLst>
          </p:cNvPr>
          <p:cNvSpPr txBox="1"/>
          <p:nvPr/>
        </p:nvSpPr>
        <p:spPr>
          <a:xfrm>
            <a:off x="840665" y="5092451"/>
            <a:ext cx="256032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hu-HU" dirty="0">
                <a:solidFill>
                  <a:srgbClr val="0F5132"/>
                </a:solidFill>
                <a:latin typeface="Outfit SemiBold"/>
              </a:rPr>
              <a:t>4</a:t>
            </a:r>
            <a:r>
              <a:rPr sz="1800" b="0" i="0" u="none" dirty="0">
                <a:solidFill>
                  <a:srgbClr val="0F5132"/>
                </a:solidFill>
                <a:latin typeface="Outfit SemiBold"/>
              </a:rPr>
              <a:t>. R</a:t>
            </a:r>
            <a:r>
              <a:rPr lang="hu-HU" sz="1800" b="0" i="0" u="none" dirty="0" err="1">
                <a:solidFill>
                  <a:srgbClr val="0F5132"/>
                </a:solidFill>
                <a:latin typeface="Outfit SemiBold"/>
              </a:rPr>
              <a:t>ot</a:t>
            </a:r>
            <a:r>
              <a:rPr sz="1800" b="0" i="0" u="none" dirty="0">
                <a:solidFill>
                  <a:srgbClr val="0F5132"/>
                </a:solidFill>
                <a:latin typeface="Outfit SemiBold"/>
              </a:rPr>
              <a:t> (</a:t>
            </a:r>
            <a:r>
              <a:rPr lang="hu-HU" dirty="0">
                <a:solidFill>
                  <a:srgbClr val="0F5132"/>
                </a:solidFill>
                <a:latin typeface="Outfit SemiBold"/>
              </a:rPr>
              <a:t>Komposztálj</a:t>
            </a:r>
            <a:r>
              <a:rPr sz="1800" b="0" i="0" u="none" dirty="0">
                <a:solidFill>
                  <a:srgbClr val="0F5132"/>
                </a:solidFill>
                <a:latin typeface="Outfit SemiBold"/>
              </a:rPr>
              <a:t>)</a:t>
            </a:r>
          </a:p>
        </p:txBody>
      </p:sp>
      <p:sp>
        <p:nvSpPr>
          <p:cNvPr id="26" name="TextBox 13">
            <a:extLst>
              <a:ext uri="{FF2B5EF4-FFF2-40B4-BE49-F238E27FC236}">
                <a16:creationId xmlns:a16="http://schemas.microsoft.com/office/drawing/2014/main" id="{3C529744-CE04-7FC4-337B-3703434EE6E9}"/>
              </a:ext>
            </a:extLst>
          </p:cNvPr>
          <p:cNvSpPr txBox="1"/>
          <p:nvPr/>
        </p:nvSpPr>
        <p:spPr>
          <a:xfrm>
            <a:off x="840665" y="5548510"/>
            <a:ext cx="2933700" cy="10049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lang="hu-HU" sz="1275" b="0" i="0" u="none" dirty="0">
                <a:solidFill>
                  <a:srgbClr val="334155"/>
                </a:solidFill>
                <a:latin typeface="Plus Jakarta Sans"/>
              </a:rPr>
              <a:t>Ne hagyd a szerves hulladékot a szemetesben kikötni! Komposztálással a konyhai hulladékból értékes tápanyag válik, ami visszatér a természetes körforgásba.</a:t>
            </a:r>
            <a:endParaRPr sz="1275" b="0" i="0" u="none" dirty="0">
              <a:solidFill>
                <a:srgbClr val="334155"/>
              </a:solidFill>
              <a:latin typeface="Plus Jakarta Sans"/>
            </a:endParaRPr>
          </a:p>
        </p:txBody>
      </p:sp>
      <p:pic>
        <p:nvPicPr>
          <p:cNvPr id="27" name="Picture 11" descr="image.png">
            <a:extLst>
              <a:ext uri="{FF2B5EF4-FFF2-40B4-BE49-F238E27FC236}">
                <a16:creationId xmlns:a16="http://schemas.microsoft.com/office/drawing/2014/main" id="{C2DAE444-EAD0-71EF-456B-3D0990C74BC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9844" y="1397823"/>
            <a:ext cx="571500" cy="571500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DDA83A96-ECE6-B61F-35D7-5A7C96E8EF8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84129" y="1491376"/>
            <a:ext cx="342930" cy="358171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D46D2474-E894-7BC0-8386-924E528A7B1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4100" y="4445660"/>
            <a:ext cx="342930" cy="3810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/>
      <p:bldP spid="18" grpId="0"/>
      <p:bldP spid="19" grpId="0"/>
      <p:bldP spid="20" grpId="0"/>
      <p:bldP spid="21" grpId="0"/>
      <p:bldP spid="13" grpId="0"/>
      <p:bldP spid="14" grpId="0"/>
      <p:bldP spid="25" grpId="0"/>
      <p:bldP spid="2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786062"/>
            <a:ext cx="5334000" cy="19526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2025" y="3176587"/>
            <a:ext cx="45529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6750"/>
              </a:lnSpc>
            </a:pPr>
            <a:r>
              <a:rPr sz="6750" b="0" i="0" u="none">
                <a:solidFill>
                  <a:srgbClr val="047857"/>
                </a:solidFill>
                <a:latin typeface="Outfit ExtraBold"/>
              </a:rPr>
              <a:t>65 kg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025" y="4129087"/>
            <a:ext cx="4552950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334155"/>
                </a:solidFill>
                <a:latin typeface="Plus Jakarta Sans"/>
              </a:rPr>
              <a:t>Élelmiszerhulladék / fő / év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2809577"/>
            <a:ext cx="56007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0F5132"/>
                </a:solidFill>
                <a:latin typeface="Outfit SemiBold"/>
              </a:rPr>
              <a:t>Élelmiszertudatosság és Hatásai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0" y="3209627"/>
            <a:ext cx="5334000" cy="752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0" i="0" u="none">
                <a:solidFill>
                  <a:srgbClr val="334155"/>
                </a:solidFill>
                <a:latin typeface="Plus Jakarta Sans"/>
              </a:rPr>
              <a:t>A NÉBIH </a:t>
            </a:r>
            <a:r>
              <a:rPr sz="1275" b="0" i="1" u="none">
                <a:solidFill>
                  <a:srgbClr val="334155"/>
                </a:solidFill>
                <a:latin typeface="Plus Jakarta Sans"/>
              </a:rPr>
              <a:t>Maradék nélkül</a:t>
            </a:r>
            <a:r>
              <a:rPr sz="1275" b="0" i="0" u="none">
                <a:solidFill>
                  <a:srgbClr val="334155"/>
                </a:solidFill>
                <a:latin typeface="Plus Jakarta Sans"/>
              </a:rPr>
              <a:t> programjának adatai szerint egy átlagos magyar állampolgár évente 65 kg élelmiszert pazarol el, aminek több mint a fele ésszerű odafigyeléssel megelőzhető lenne.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3962400"/>
            <a:ext cx="5334000" cy="752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1" i="0" u="none">
                <a:solidFill>
                  <a:srgbClr val="334155"/>
                </a:solidFill>
                <a:latin typeface="Plus Jakarta Sans"/>
              </a:rPr>
              <a:t>Gyakorlati megoldások:</a:t>
            </a:r>
            <a:r>
              <a:rPr sz="1275" b="0" i="0" u="none">
                <a:solidFill>
                  <a:srgbClr val="334155"/>
                </a:solidFill>
                <a:latin typeface="Plus Jakarta Sans"/>
              </a:rPr>
              <a:t> Bevásárlólista készítése, a "minőségét megőrzi" és "fogyasztható" jelzések megkülönböztetése, fagyasztás és komposztálás.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u="none">
                <a:solidFill>
                  <a:srgbClr val="064E3B"/>
                </a:solidFill>
                <a:latin typeface="Outfit"/>
              </a:rPr>
              <a:t>Élelmiszerpazarlás a Háztartásokban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" y="904875"/>
            <a:ext cx="7620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5550693" cy="428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u="none">
                <a:solidFill>
                  <a:srgbClr val="064E3B"/>
                </a:solidFill>
                <a:latin typeface="Outfit"/>
              </a:rPr>
              <a:t>Zöld Városi Mobilitás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25" y="0"/>
            <a:ext cx="5857875" cy="685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71500" y="1000125"/>
            <a:ext cx="7620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1500" y="2809577"/>
            <a:ext cx="5550693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0F5132"/>
                </a:solidFill>
                <a:latin typeface="Outfit SemiBold"/>
              </a:rPr>
              <a:t>Fenntartható Közlekedés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3209627"/>
            <a:ext cx="5286375" cy="752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0" i="0" u="none">
                <a:solidFill>
                  <a:srgbClr val="334155"/>
                </a:solidFill>
                <a:latin typeface="Plus Jakarta Sans"/>
              </a:rPr>
              <a:t>A városi személyi közlekedés az egyéni szén-dioxid-kibocsátás egyik legfőbb forrása. A közösségi közlekedés és a mikromobilitás választása közvetlen pozitív hatást gyakorol a levegőminőségre.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3962400"/>
            <a:ext cx="5286375" cy="752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275" b="0" i="0" u="none">
                <a:solidFill>
                  <a:srgbClr val="334155"/>
                </a:solidFill>
                <a:latin typeface="Plus Jakarta Sans"/>
              </a:rPr>
              <a:t>A kerékpározás és a gyaloglás nemcsak zéró emissziós opciók, de jelentősen hozzájárulnak a fizikai egészség és életminőség javításához is.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143000"/>
            <a:ext cx="11049000" cy="5238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5037087"/>
            <a:ext cx="11049000" cy="2509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976"/>
              </a:lnSpc>
            </a:pPr>
            <a:r>
              <a:rPr sz="1275" b="0" i="1" u="none">
                <a:solidFill>
                  <a:srgbClr val="334155"/>
                </a:solidFill>
                <a:latin typeface="Plus Jakarta Sans"/>
              </a:rPr>
              <a:t>Forrás: KSH &amp; Megelőzési Stratégiai Adatok. A háztartási hulladék mintegy 90%-a szelektálható vagy komposztálható lenne.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u="none">
                <a:solidFill>
                  <a:srgbClr val="064E3B"/>
                </a:solidFill>
                <a:latin typeface="Outfit"/>
              </a:rPr>
              <a:t>Háztartási Hulladék Megoszlása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904875"/>
            <a:ext cx="7620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048125"/>
            <a:ext cx="2541240" cy="125521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7419" y="2221408"/>
            <a:ext cx="2541240" cy="12552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3339" y="4048125"/>
            <a:ext cx="2541240" cy="125521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9259" y="2408039"/>
            <a:ext cx="2541240" cy="106858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3743325"/>
            <a:ext cx="11049000" cy="38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995" y="4248150"/>
            <a:ext cx="2248249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047857"/>
                </a:solidFill>
                <a:latin typeface="Outfit SemiBold"/>
              </a:rPr>
              <a:t>1. Auditálás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525" y="4543425"/>
            <a:ext cx="2141190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Plus Jakarta Sans"/>
              </a:rPr>
              <a:t>Saját ökológiai lábnyom kiszámítása és a felesleges fogyasztás azonosítása.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3915" y="2421433"/>
            <a:ext cx="2248249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047857"/>
                </a:solidFill>
                <a:latin typeface="Outfit SemiBold"/>
              </a:rPr>
              <a:t>2. Gyors Lépések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7444" y="2716708"/>
            <a:ext cx="2141190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Plus Jakarta Sans"/>
              </a:rPr>
              <a:t>Szelektív gyűjtés elindítása, LED izzók, saját kulacs és szatyor használata.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9835" y="4248150"/>
            <a:ext cx="2248249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047857"/>
                </a:solidFill>
                <a:latin typeface="Outfit SemiBold"/>
              </a:rPr>
              <a:t>3. Szokásváltás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64" y="4543425"/>
            <a:ext cx="2141190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Plus Jakarta Sans"/>
              </a:rPr>
              <a:t>Fenntartható mobilitás, helyi élelmiszer-vásárlás és energiaracionalizálás.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5755" y="2608064"/>
            <a:ext cx="2248249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047857"/>
                </a:solidFill>
                <a:latin typeface="Outfit SemiBold"/>
              </a:rPr>
              <a:t>4. Szemléletformálás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9284" y="2903339"/>
            <a:ext cx="2141190" cy="373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Plus Jakarta Sans"/>
              </a:rPr>
              <a:t>Jó gyakorlatok megosztása az iskolai és családi közösségekben.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u="none">
                <a:solidFill>
                  <a:srgbClr val="064E3B"/>
                </a:solidFill>
                <a:latin typeface="Outfit"/>
              </a:rPr>
              <a:t>Út az Ökotudatos Életmódig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" y="904875"/>
            <a:ext cx="7620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737345" y="365760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573265" y="365760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409184" y="365760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245104" y="365760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8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5275" y="476250"/>
            <a:ext cx="11601450" cy="819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100" b="1" i="0" u="none" dirty="0" err="1">
                <a:solidFill>
                  <a:srgbClr val="064E3B"/>
                </a:solidFill>
                <a:latin typeface="Outfit"/>
              </a:rPr>
              <a:t>Köszönjük</a:t>
            </a:r>
            <a:r>
              <a:rPr sz="5100" b="1" i="0" u="none" dirty="0">
                <a:solidFill>
                  <a:srgbClr val="064E3B"/>
                </a:solidFill>
                <a:latin typeface="Outfit"/>
              </a:rPr>
              <a:t> a </a:t>
            </a:r>
            <a:r>
              <a:rPr sz="5100" b="1" i="0" u="none" dirty="0" err="1">
                <a:solidFill>
                  <a:srgbClr val="064E3B"/>
                </a:solidFill>
                <a:latin typeface="Outfit"/>
              </a:rPr>
              <a:t>Figyelmet</a:t>
            </a:r>
            <a:r>
              <a:rPr sz="5100" b="1" i="0" u="none" dirty="0">
                <a:solidFill>
                  <a:srgbClr val="064E3B"/>
                </a:solidFill>
                <a:latin typeface="Outfit"/>
              </a:rPr>
              <a:t>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438275"/>
            <a:ext cx="11049000" cy="3247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7"/>
              </a:lnSpc>
            </a:pPr>
            <a:r>
              <a:rPr sz="1650" b="0" i="0" u="none" dirty="0" err="1">
                <a:solidFill>
                  <a:srgbClr val="047857"/>
                </a:solidFill>
                <a:latin typeface="Plus Jakarta Sans"/>
              </a:rPr>
              <a:t>Tegyünk</a:t>
            </a:r>
            <a:r>
              <a:rPr sz="1650" b="0" i="0" u="none" dirty="0">
                <a:solidFill>
                  <a:srgbClr val="047857"/>
                </a:solidFill>
                <a:latin typeface="Plus Jakarta Sans"/>
              </a:rPr>
              <a:t> </a:t>
            </a:r>
            <a:r>
              <a:rPr sz="1650" b="0" i="0" u="none" dirty="0" err="1">
                <a:solidFill>
                  <a:srgbClr val="047857"/>
                </a:solidFill>
                <a:latin typeface="Plus Jakarta Sans"/>
              </a:rPr>
              <a:t>együtt</a:t>
            </a:r>
            <a:r>
              <a:rPr sz="1650" b="0" i="0" u="none" dirty="0">
                <a:solidFill>
                  <a:srgbClr val="047857"/>
                </a:solidFill>
                <a:latin typeface="Plus Jakarta Sans"/>
              </a:rPr>
              <a:t> a </a:t>
            </a:r>
            <a:r>
              <a:rPr sz="1650" b="0" i="0" u="none" dirty="0" err="1">
                <a:solidFill>
                  <a:srgbClr val="047857"/>
                </a:solidFill>
                <a:latin typeface="Plus Jakarta Sans"/>
              </a:rPr>
              <a:t>fenntartható</a:t>
            </a:r>
            <a:r>
              <a:rPr sz="1650" b="0" i="0" u="none" dirty="0">
                <a:solidFill>
                  <a:srgbClr val="047857"/>
                </a:solidFill>
                <a:latin typeface="Plus Jakarta Sans"/>
              </a:rPr>
              <a:t> </a:t>
            </a:r>
            <a:r>
              <a:rPr sz="1650" b="0" i="0" u="none" dirty="0" err="1">
                <a:solidFill>
                  <a:srgbClr val="047857"/>
                </a:solidFill>
                <a:latin typeface="Plus Jakarta Sans"/>
              </a:rPr>
              <a:t>jövőért</a:t>
            </a:r>
            <a:r>
              <a:rPr sz="1650" b="0" i="0" u="none" dirty="0">
                <a:solidFill>
                  <a:srgbClr val="047857"/>
                </a:solidFill>
                <a:latin typeface="Plus Jakarta Sans"/>
              </a:rPr>
              <a:t> </a:t>
            </a:r>
            <a:r>
              <a:rPr sz="1650" b="0" i="0" u="none" dirty="0" err="1">
                <a:solidFill>
                  <a:srgbClr val="047857"/>
                </a:solidFill>
                <a:latin typeface="Plus Jakarta Sans"/>
              </a:rPr>
              <a:t>mindennapi</a:t>
            </a:r>
            <a:r>
              <a:rPr sz="1650" b="0" i="0" u="none" dirty="0">
                <a:solidFill>
                  <a:srgbClr val="047857"/>
                </a:solidFill>
                <a:latin typeface="Plus Jakarta Sans"/>
              </a:rPr>
              <a:t> </a:t>
            </a:r>
            <a:r>
              <a:rPr sz="1650" b="0" i="0" u="none" dirty="0" err="1">
                <a:solidFill>
                  <a:srgbClr val="047857"/>
                </a:solidFill>
                <a:latin typeface="Plus Jakarta Sans"/>
              </a:rPr>
              <a:t>döntéseinkkel</a:t>
            </a:r>
            <a:r>
              <a:rPr sz="1650" b="0" i="0" u="none" dirty="0">
                <a:solidFill>
                  <a:srgbClr val="047857"/>
                </a:solidFill>
                <a:latin typeface="Plus Jakarta Sans"/>
              </a:rPr>
              <a:t>!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462" y="2076896"/>
            <a:ext cx="219075" cy="171450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8AF7C124-55FC-3D48-0035-9B7D6585A410}"/>
              </a:ext>
            </a:extLst>
          </p:cNvPr>
          <p:cNvSpPr txBox="1"/>
          <p:nvPr/>
        </p:nvSpPr>
        <p:spPr>
          <a:xfrm>
            <a:off x="571500" y="2248346"/>
            <a:ext cx="1104900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hu-HU" sz="1400" b="1" i="0" u="none" dirty="0">
                <a:solidFill>
                  <a:srgbClr val="047857"/>
                </a:solidFill>
                <a:latin typeface="Plus Jakarta Sans"/>
              </a:rPr>
              <a:t>Készítők</a:t>
            </a:r>
          </a:p>
          <a:p>
            <a:pPr algn="ctr"/>
            <a:r>
              <a:rPr lang="hu-HU" sz="1400" dirty="0" err="1">
                <a:latin typeface="Plus Jakarta Sans"/>
              </a:rPr>
              <a:t>Szlifka</a:t>
            </a:r>
            <a:r>
              <a:rPr lang="hu-HU" sz="1400" dirty="0">
                <a:latin typeface="Plus Jakarta Sans"/>
              </a:rPr>
              <a:t> Szilveszter</a:t>
            </a:r>
          </a:p>
          <a:p>
            <a:pPr algn="ctr"/>
            <a:r>
              <a:rPr lang="hu-HU" sz="1400" b="0" i="0" u="none" dirty="0">
                <a:latin typeface="Plus Jakarta Sans"/>
              </a:rPr>
              <a:t>Nagy Dávid Viktor</a:t>
            </a:r>
            <a:endParaRPr sz="1400" b="0" i="0" u="none" dirty="0">
              <a:latin typeface="Plus Jakarta San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214562"/>
            <a:ext cx="11049000" cy="309562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1025" y="2224087"/>
          <a:ext cx="11029948" cy="3076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68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1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79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762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064E3B"/>
                          </a:solidFill>
                          <a:latin typeface="Outfit"/>
                        </a:rPr>
                        <a:t>Forrás Intézmény / Szervezet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064E3B"/>
                          </a:solidFill>
                          <a:latin typeface="Outfit"/>
                        </a:rPr>
                        <a:t>Típus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064E3B"/>
                          </a:solidFill>
                          <a:latin typeface="Outfit"/>
                        </a:rPr>
                        <a:t>Fő Adatkör / Fókusz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2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KSH (Központi Statisztikai Hivatal)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Statisztikai adattár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Karbonlábnyom, SDG fenntarthatósági indikátorok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762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WWF Magyarország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Civil természetvédelmi szervezet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Túlfogyasztás napja, lakossági attitűdfelmérések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762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EEA (Európai Környezetvédelmi Ügynökség)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EU Szakhatóság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Klíma- és kibocsátási mutatók, energiahatékonyság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762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NÉBIH (Maradék nélkül)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Állami szakhatóság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Élelmiszerpazarlási adatok és háztartási megelőzés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765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MEKH (Energiahivatal)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Szabályozó hatóság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Lakossági energiafelhasználás és megtakarítás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81025" y="2724150"/>
            <a:ext cx="3806874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387899" y="2724150"/>
            <a:ext cx="289515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283053" y="2724150"/>
            <a:ext cx="4327921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81025" y="3238500"/>
            <a:ext cx="3806874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87899" y="3238500"/>
            <a:ext cx="289515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283053" y="3238500"/>
            <a:ext cx="4327921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1025" y="3752850"/>
            <a:ext cx="3806874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7899" y="3752850"/>
            <a:ext cx="289515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283053" y="3752850"/>
            <a:ext cx="4327921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1025" y="4267200"/>
            <a:ext cx="3806874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87899" y="4267200"/>
            <a:ext cx="289515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283053" y="4267200"/>
            <a:ext cx="4327921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1025" y="4781550"/>
            <a:ext cx="3806874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7899" y="4781550"/>
            <a:ext cx="2895153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283053" y="4781550"/>
            <a:ext cx="4327921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u="none">
                <a:solidFill>
                  <a:srgbClr val="064E3B"/>
                </a:solidFill>
                <a:latin typeface="Outfit"/>
              </a:rPr>
              <a:t>Hivatalos Források Megjelölése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1500" y="904875"/>
            <a:ext cx="7620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1500" y="2995612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71500" y="375761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1500" y="375761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138487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66875" y="3138785"/>
            <a:ext cx="9953625" cy="1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 dirty="0">
                <a:solidFill>
                  <a:srgbClr val="334155"/>
                </a:solidFill>
                <a:latin typeface="Plus Jakarta Sans"/>
              </a:rPr>
              <a:t>https://koala.sh/api/image/v2-bs1oz-sn3qi.jpg?width=1216&amp;height=832&amp;dream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3378249"/>
            <a:ext cx="9953625" cy="236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sz="1200" b="0" i="0" u="none">
                <a:solidFill>
                  <a:srgbClr val="334155"/>
                </a:solidFill>
                <a:latin typeface="Plus Jakarta Sans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Plus Jakarta Sans"/>
              </a:rPr>
              <a:t>learningmole.com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910012"/>
            <a:ext cx="857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66875" y="3910310"/>
            <a:ext cx="9953625" cy="191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1"/>
              </a:lnSpc>
            </a:pPr>
            <a:r>
              <a:rPr sz="975" b="0" i="0" u="none" dirty="0">
                <a:solidFill>
                  <a:srgbClr val="334155"/>
                </a:solidFill>
                <a:latin typeface="Plus Jakarta Sans"/>
              </a:rPr>
              <a:t>https://changing-transport.org/wp-content/uploads/Car-Free-Day-Kigali-17-March-2024-Paul-Kagame.jpg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4149774"/>
            <a:ext cx="9953625" cy="236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sz="1200" b="0" i="0" u="none">
                <a:solidFill>
                  <a:srgbClr val="334155"/>
                </a:solidFill>
                <a:latin typeface="Plus Jakarta Sans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Plus Jakarta Sans"/>
              </a:rPr>
              <a:t>changing-transport.org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hu-HU" sz="2700" b="1" dirty="0">
                <a:solidFill>
                  <a:srgbClr val="064E3B"/>
                </a:solidFill>
                <a:latin typeface="Outfit"/>
              </a:rPr>
              <a:t>Képek forrása</a:t>
            </a:r>
            <a:endParaRPr sz="2700" b="1" i="0" u="none" dirty="0">
              <a:solidFill>
                <a:srgbClr val="064E3B"/>
              </a:solidFill>
              <a:latin typeface="Outfi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71500" y="904875"/>
            <a:ext cx="76200" cy="3048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</TotalTime>
  <Words>686</Words>
  <Application>Microsoft Office PowerPoint</Application>
  <PresentationFormat>Szélesvásznú</PresentationFormat>
  <Paragraphs>86</Paragraphs>
  <Slides>12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8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21" baseType="lpstr">
      <vt:lpstr>Arial</vt:lpstr>
      <vt:lpstr>Calibri</vt:lpstr>
      <vt:lpstr>Outfit</vt:lpstr>
      <vt:lpstr>Outfit ExtraBold</vt:lpstr>
      <vt:lpstr>Outfit SemiBold</vt:lpstr>
      <vt:lpstr>Plus Jakarta Sans</vt:lpstr>
      <vt:lpstr>Plus Jakarta Sans Medium</vt:lpstr>
      <vt:lpstr>Plus Jakarta Sans SemiBold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cp:lastModifiedBy>O365 felhasználó</cp:lastModifiedBy>
  <cp:revision>38</cp:revision>
  <dcterms:created xsi:type="dcterms:W3CDTF">2013-01-27T09:14:16Z</dcterms:created>
  <dcterms:modified xsi:type="dcterms:W3CDTF">2026-08-28T15:00:53Z</dcterms:modified>
  <cp:category/>
</cp:coreProperties>
</file>