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59485"/>
            <a:ext cx="8572500" cy="561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69939"/>
            <a:ext cx="9001125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sz="4350" b="1" i="0" u="none" dirty="0" err="1">
                <a:solidFill>
                  <a:srgbClr val="064E3B"/>
                </a:solidFill>
                <a:latin typeface="Outfit"/>
              </a:rPr>
              <a:t>Környezetvédelem</a:t>
            </a:r>
            <a:r>
              <a:rPr sz="4350" b="1" i="0" u="none" dirty="0">
                <a:solidFill>
                  <a:srgbClr val="064E3B"/>
                </a:solidFill>
                <a:latin typeface="Outfit"/>
              </a:rPr>
              <a:t> a </a:t>
            </a:r>
            <a:r>
              <a:rPr sz="4350" b="1" i="0" u="none" dirty="0" err="1">
                <a:solidFill>
                  <a:srgbClr val="064E3B"/>
                </a:solidFill>
                <a:latin typeface="Outfit"/>
              </a:rPr>
              <a:t>mindennapokban</a:t>
            </a:r>
            <a:endParaRPr sz="4350" b="1" i="0" u="none" dirty="0">
              <a:solidFill>
                <a:srgbClr val="064E3B"/>
              </a:solidFill>
              <a:latin typeface="Outfi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3783210"/>
            <a:ext cx="753427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0" i="0" u="none">
                <a:solidFill>
                  <a:srgbClr val="047857"/>
                </a:solidFill>
                <a:latin typeface="Plus Jakarta Sans Medium"/>
              </a:rPr>
              <a:t>Gyakorlati lépések, lakossági adatok és felelős egyéni döntések a fenntarthatóságért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" y="2092736"/>
            <a:ext cx="150018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669035"/>
            <a:ext cx="136207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64748B"/>
                </a:solidFill>
                <a:latin typeface="Plus Jakarta Sans"/>
              </a:rPr>
              <a:t>Készítők</a:t>
            </a:r>
            <a:r>
              <a:rPr sz="12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endParaRPr lang="hu-HU" sz="1200" b="0" i="0" u="none" dirty="0">
              <a:solidFill>
                <a:srgbClr val="1E293B"/>
              </a:solidFill>
              <a:latin typeface="Plus Jakarta Sans"/>
            </a:endParaRPr>
          </a:p>
          <a:p>
            <a:pPr algn="l"/>
            <a:r>
              <a:rPr lang="hu-HU" sz="1200" dirty="0" err="1">
                <a:solidFill>
                  <a:srgbClr val="0F172A"/>
                </a:solidFill>
                <a:latin typeface="Plus Jakarta Sans SemiBold"/>
              </a:rPr>
              <a:t>Szlifka</a:t>
            </a:r>
            <a:r>
              <a:rPr lang="hu-HU" sz="1200" dirty="0">
                <a:solidFill>
                  <a:srgbClr val="0F172A"/>
                </a:solidFill>
                <a:latin typeface="Plus Jakarta Sans SemiBold"/>
              </a:rPr>
              <a:t> Szilveszter </a:t>
            </a:r>
          </a:p>
          <a:p>
            <a:pPr algn="l"/>
            <a:r>
              <a:rPr lang="hu-HU" sz="1200" dirty="0">
                <a:solidFill>
                  <a:srgbClr val="0F172A"/>
                </a:solidFill>
                <a:latin typeface="Plus Jakarta Sans SemiBold"/>
              </a:rPr>
              <a:t>Nagy Dávid Viktor</a:t>
            </a:r>
            <a:endParaRPr sz="1200" b="0" i="0" u="none" dirty="0">
              <a:solidFill>
                <a:srgbClr val="0F172A"/>
              </a:solidFill>
              <a:latin typeface="Plus Jakarta Sans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05401" y="3133278"/>
            <a:ext cx="9581197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 dirty="0">
                <a:solidFill>
                  <a:srgbClr val="064E3B"/>
                </a:solidFill>
                <a:latin typeface="Outfit"/>
              </a:rPr>
              <a:t>I. </a:t>
            </a:r>
            <a:r>
              <a:rPr sz="4050" b="1" i="0" u="none" dirty="0" err="1">
                <a:solidFill>
                  <a:srgbClr val="064E3B"/>
                </a:solidFill>
                <a:latin typeface="Outfit"/>
              </a:rPr>
              <a:t>Globális</a:t>
            </a:r>
            <a:r>
              <a:rPr sz="4050" b="1" i="0" u="none" dirty="0">
                <a:solidFill>
                  <a:srgbClr val="064E3B"/>
                </a:solidFill>
                <a:latin typeface="Outfit"/>
              </a:rPr>
              <a:t> </a:t>
            </a:r>
            <a:r>
              <a:rPr sz="4050" b="1" i="0" u="none" dirty="0" err="1">
                <a:solidFill>
                  <a:srgbClr val="064E3B"/>
                </a:solidFill>
                <a:latin typeface="Outfit"/>
              </a:rPr>
              <a:t>Helyzet</a:t>
            </a:r>
            <a:r>
              <a:rPr sz="4050" b="1" i="0" u="none" dirty="0">
                <a:solidFill>
                  <a:srgbClr val="064E3B"/>
                </a:solidFill>
                <a:latin typeface="Outfit"/>
              </a:rPr>
              <a:t> </a:t>
            </a:r>
            <a:r>
              <a:rPr sz="4050" b="1" i="0" u="none" dirty="0" err="1">
                <a:solidFill>
                  <a:srgbClr val="064E3B"/>
                </a:solidFill>
                <a:latin typeface="Outfit"/>
              </a:rPr>
              <a:t>és</a:t>
            </a:r>
            <a:r>
              <a:rPr sz="4050" b="1" i="0" u="none" dirty="0">
                <a:solidFill>
                  <a:srgbClr val="064E3B"/>
                </a:solidFill>
                <a:latin typeface="Outfit"/>
              </a:rPr>
              <a:t> </a:t>
            </a:r>
            <a:r>
              <a:rPr sz="4050" b="1" i="0" u="none" dirty="0" err="1">
                <a:solidFill>
                  <a:srgbClr val="064E3B"/>
                </a:solidFill>
                <a:latin typeface="Outfit"/>
              </a:rPr>
              <a:t>Egyéni</a:t>
            </a:r>
            <a:r>
              <a:rPr sz="4050" b="1" i="0" u="none" dirty="0">
                <a:solidFill>
                  <a:srgbClr val="064E3B"/>
                </a:solidFill>
                <a:latin typeface="Outfit"/>
              </a:rPr>
              <a:t> </a:t>
            </a:r>
            <a:r>
              <a:rPr sz="4050" b="1" i="0" u="none" dirty="0" err="1">
                <a:solidFill>
                  <a:srgbClr val="064E3B"/>
                </a:solidFill>
                <a:latin typeface="Outfit"/>
              </a:rPr>
              <a:t>Felelősség</a:t>
            </a:r>
            <a:endParaRPr sz="4050" b="1" i="0" u="none" dirty="0">
              <a:solidFill>
                <a:srgbClr val="064E3B"/>
              </a:solidFill>
              <a:latin typeface="Outfi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66987" y="3923853"/>
            <a:ext cx="7058025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A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túlfogyasztás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kihívásai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és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az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ökológiai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lábnyom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alakulása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napjainkban</a:t>
            </a:r>
            <a:endParaRPr sz="1650" b="0" i="0" u="none" dirty="0">
              <a:solidFill>
                <a:srgbClr val="047857"/>
              </a:solidFill>
              <a:latin typeface="Plus Jakarta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26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1952625"/>
            <a:ext cx="51054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Túlfogyasztás Napja (WWF):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Az emberiség éves erőforrás-kerete már az év közepén kimerül, ezt követően a bolygó tartalékait éljük fel.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838747"/>
            <a:ext cx="51054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Hazai adatok (KSH):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Magyarországon az átlagos egy főre jutó karbonlábnyom 6,14 tonna CO₂/év.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473946"/>
            <a:ext cx="51054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Tudatosság szintek: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A felmérések szerint a lakosság többsége felismeri a klímaváltozást, de az egyéni tettekben még jelentős a szakadék.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360068"/>
            <a:ext cx="51054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Egyéni hatás: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A háztartások közvetlen döntései felelősek a globális kibocsátások több mint 60%-áért.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52625"/>
            <a:ext cx="5334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914525"/>
            <a:ext cx="1238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b="0" i="0" u="none">
                <a:solidFill>
                  <a:srgbClr val="10B98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800647"/>
            <a:ext cx="1238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b="0" i="0" u="none">
                <a:solidFill>
                  <a:srgbClr val="10B981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435846"/>
            <a:ext cx="1238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b="0" i="0" u="none">
                <a:solidFill>
                  <a:srgbClr val="10B98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321968"/>
            <a:ext cx="1238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b="0" i="0" u="none">
                <a:solidFill>
                  <a:srgbClr val="10B981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64E3B"/>
                </a:solidFill>
                <a:latin typeface="Outfit"/>
              </a:rPr>
              <a:t>Ökológiai Lábnyom és Helyzetkép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6677"/>
            <a:ext cx="5334000" cy="25913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66677"/>
            <a:ext cx="5334000" cy="2591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9675" y="2809577"/>
            <a:ext cx="4570571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 dirty="0" err="1">
                <a:solidFill>
                  <a:srgbClr val="047857"/>
                </a:solidFill>
                <a:latin typeface="Outfit SemiBold"/>
              </a:rPr>
              <a:t>Energiahatékonyság</a:t>
            </a:r>
            <a:endParaRPr sz="1800" b="0" i="0" u="none" dirty="0">
              <a:solidFill>
                <a:srgbClr val="047857"/>
              </a:solidFill>
              <a:latin typeface="Outfit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209627"/>
            <a:ext cx="46482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LED világítás: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Akár 80%-kal kevesebb áramot fogyaszt a hagyományos izzóknál.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11475"/>
            <a:ext cx="46482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Standby </a:t>
            </a:r>
            <a:r>
              <a:rPr sz="1275" b="1" i="0" u="none" dirty="0" err="1">
                <a:solidFill>
                  <a:srgbClr val="334155"/>
                </a:solidFill>
                <a:latin typeface="Plus Jakarta Sans"/>
              </a:rPr>
              <a:t>üzemmód</a:t>
            </a: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A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használaton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kívüli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eszközök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lekapcsolása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5-10%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megtakarítást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jelenthet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13324"/>
            <a:ext cx="46482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Intelligens fűtés: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1°C-os hőmérséklet-csökkentés mintegy 6% energiamegtakarítást eredményez.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100" y="2809577"/>
            <a:ext cx="460057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47857"/>
                </a:solidFill>
                <a:latin typeface="Outfit SemiBold"/>
              </a:rPr>
              <a:t>Felelős Vízhasználat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09627"/>
            <a:ext cx="46482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Víztakarékos perlátorok: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A csaptelepekre szerelve 30-50%-kal csökkentik a vízátfolyást.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711475"/>
            <a:ext cx="46482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Zuhanyzás vs. Fürdés: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Egy gyors zuhanyzással átlagosan 70-100 liter vizet takarítunk meg.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213324"/>
            <a:ext cx="46482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Esővízgyűjtés: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A kertöntözés és növényápolás ingyenes, klórmentes alternatívája.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38152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838152"/>
            <a:ext cx="17145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Outfit"/>
              </a:rPr>
              <a:t>Energia- </a:t>
            </a:r>
            <a:r>
              <a:rPr sz="2700" b="1" i="0" u="none" dirty="0" err="1">
                <a:solidFill>
                  <a:srgbClr val="064E3B"/>
                </a:solidFill>
                <a:latin typeface="Outfit"/>
              </a:rPr>
              <a:t>és</a:t>
            </a:r>
            <a:r>
              <a:rPr sz="2700" b="1" i="0" u="none" dirty="0">
                <a:solidFill>
                  <a:srgbClr val="064E3B"/>
                </a:solidFill>
                <a:latin typeface="Outfit"/>
              </a:rPr>
              <a:t> </a:t>
            </a:r>
            <a:r>
              <a:rPr sz="2700" b="1" i="0" u="none" dirty="0" err="1">
                <a:solidFill>
                  <a:srgbClr val="064E3B"/>
                </a:solidFill>
                <a:latin typeface="Outfit"/>
              </a:rPr>
              <a:t>Víztakarékosság</a:t>
            </a:r>
            <a:endParaRPr sz="2700" b="1" i="0" u="none" dirty="0">
              <a:solidFill>
                <a:srgbClr val="064E3B"/>
              </a:solidFill>
              <a:latin typeface="Outfit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9675"/>
            <a:ext cx="3228975" cy="27552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209675"/>
            <a:ext cx="3228975" cy="27552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674" y="1209675"/>
            <a:ext cx="3228975" cy="275526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237" y="1391989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7237" y="2131248"/>
            <a:ext cx="2440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1. Re</a:t>
            </a:r>
            <a:r>
              <a:rPr lang="hu-HU" sz="1800" b="0" i="0" u="none" dirty="0" err="1">
                <a:solidFill>
                  <a:srgbClr val="0F5132"/>
                </a:solidFill>
                <a:latin typeface="Outfit SemiBold"/>
              </a:rPr>
              <a:t>fuse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 (</a:t>
            </a:r>
            <a:r>
              <a:rPr lang="hu-HU" dirty="0">
                <a:solidFill>
                  <a:srgbClr val="0F5132"/>
                </a:solidFill>
                <a:latin typeface="Outfit SemiBold"/>
              </a:rPr>
              <a:t>Elutasítás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137" y="2587307"/>
            <a:ext cx="2933700" cy="1004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76"/>
              </a:lnSpc>
            </a:pPr>
            <a:r>
              <a:rPr lang="hu-HU" sz="1275" b="0" i="0" u="none" dirty="0">
                <a:solidFill>
                  <a:srgbClr val="334155"/>
                </a:solidFill>
                <a:latin typeface="Plus Jakarta Sans"/>
              </a:rPr>
              <a:t>A legzöldebb hulladék az, ami meg sem születik. Mondj nemet az egyszer használatos műanyagokra, felesleges csomagolásokra és az utcai szórólapokra!</a:t>
            </a: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5790" y="1391989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15790" y="2125414"/>
            <a:ext cx="259032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u-HU" dirty="0">
                <a:solidFill>
                  <a:srgbClr val="0F5132"/>
                </a:solidFill>
                <a:latin typeface="Outfit SemiBold"/>
              </a:rPr>
              <a:t>3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. Reuse (</a:t>
            </a:r>
            <a:r>
              <a:rPr lang="hu-HU" dirty="0">
                <a:solidFill>
                  <a:srgbClr val="0F5132"/>
                </a:solidFill>
                <a:latin typeface="Outfit SemiBold"/>
              </a:rPr>
              <a:t>Használd újra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5790" y="2554039"/>
            <a:ext cx="2933700" cy="125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A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tárgyak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élettartamának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meghosszabbítása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javítással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adományozással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másodkézből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történő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vásárlással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és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többször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használható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eszközökkel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162" y="1553914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7715" y="1548269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Outfit"/>
              </a:rPr>
              <a:t>A </a:t>
            </a:r>
            <a:r>
              <a:rPr sz="2700" b="1" i="0" u="none" dirty="0" err="1">
                <a:solidFill>
                  <a:srgbClr val="064E3B"/>
                </a:solidFill>
                <a:latin typeface="Outfit"/>
              </a:rPr>
              <a:t>Hulladékmentesség</a:t>
            </a:r>
            <a:r>
              <a:rPr sz="2700" b="1" i="0" u="none" dirty="0">
                <a:solidFill>
                  <a:srgbClr val="064E3B"/>
                </a:solidFill>
                <a:latin typeface="Outfit"/>
              </a:rPr>
              <a:t> </a:t>
            </a:r>
            <a:r>
              <a:rPr sz="2700" b="1" i="0" u="none" dirty="0" err="1">
                <a:solidFill>
                  <a:srgbClr val="064E3B"/>
                </a:solidFill>
                <a:latin typeface="Outfit"/>
              </a:rPr>
              <a:t>Alapelvei</a:t>
            </a:r>
            <a:r>
              <a:rPr sz="2700" b="1" i="0" u="none" dirty="0">
                <a:solidFill>
                  <a:srgbClr val="064E3B"/>
                </a:solidFill>
                <a:latin typeface="Outfit"/>
              </a:rPr>
              <a:t> (</a:t>
            </a:r>
            <a:r>
              <a:rPr lang="hu-HU" sz="2700" b="1" i="0" u="none" dirty="0">
                <a:solidFill>
                  <a:srgbClr val="064E3B"/>
                </a:solidFill>
                <a:latin typeface="Outfit"/>
              </a:rPr>
              <a:t>5</a:t>
            </a:r>
            <a:r>
              <a:rPr sz="2700" b="1" i="0" u="none" dirty="0">
                <a:solidFill>
                  <a:srgbClr val="064E3B"/>
                </a:solidFill>
                <a:latin typeface="Outfit"/>
              </a:rPr>
              <a:t>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BDF1C25A-257B-D5A2-3604-F041AE7E1BD5}"/>
              </a:ext>
            </a:extLst>
          </p:cNvPr>
          <p:cNvSpPr txBox="1"/>
          <p:nvPr/>
        </p:nvSpPr>
        <p:spPr>
          <a:xfrm>
            <a:off x="4523900" y="2131248"/>
            <a:ext cx="2440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u-HU" dirty="0">
                <a:solidFill>
                  <a:srgbClr val="0F5132"/>
                </a:solidFill>
                <a:latin typeface="Outfit SemiBold"/>
              </a:rPr>
              <a:t>2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. Reduce (</a:t>
            </a:r>
            <a:r>
              <a:rPr sz="1800" b="0" i="0" u="none" dirty="0" err="1">
                <a:solidFill>
                  <a:srgbClr val="0F5132"/>
                </a:solidFill>
                <a:latin typeface="Outfit SemiBold"/>
              </a:rPr>
              <a:t>Csökkentés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)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BDAD7DAE-4241-4AD1-9C1C-90082706C884}"/>
              </a:ext>
            </a:extLst>
          </p:cNvPr>
          <p:cNvSpPr txBox="1"/>
          <p:nvPr/>
        </p:nvSpPr>
        <p:spPr>
          <a:xfrm>
            <a:off x="4495800" y="2587307"/>
            <a:ext cx="2933700" cy="1004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lang="hu-HU" sz="1275" b="0" i="0" u="none" dirty="0">
                <a:solidFill>
                  <a:srgbClr val="334155"/>
                </a:solidFill>
                <a:latin typeface="Plus Jakarta Sans"/>
              </a:rPr>
              <a:t>Vásárolj tudatosan és mértékkel! Mielőtt a kosaradba teszel valamit, tedd fel a kérdést: valóban szükséged van rá, vagy csak a pillanatnyi vágy vezérel?</a:t>
            </a: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22" name="Picture 3" descr="image.png">
            <a:extLst>
              <a:ext uri="{FF2B5EF4-FFF2-40B4-BE49-F238E27FC236}">
                <a16:creationId xmlns:a16="http://schemas.microsoft.com/office/drawing/2014/main" id="{C387E961-1A7C-EFEC-106E-A25216174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4030655"/>
            <a:ext cx="3228975" cy="275526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359" y="4350427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3040" y="5089269"/>
            <a:ext cx="256032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u-HU" dirty="0">
                <a:solidFill>
                  <a:srgbClr val="0F5132"/>
                </a:solidFill>
                <a:latin typeface="Outfit SemiBold"/>
              </a:rPr>
              <a:t>5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. Recycle (</a:t>
            </a:r>
            <a:r>
              <a:rPr sz="1800" b="0" i="0" u="none" dirty="0" err="1">
                <a:solidFill>
                  <a:srgbClr val="0F5132"/>
                </a:solidFill>
                <a:latin typeface="Outfit SemiBold"/>
              </a:rPr>
              <a:t>Hasznosítás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3040" y="5545328"/>
            <a:ext cx="293370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A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keletkezett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hulladék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szelektív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gyűjtése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és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eljuttatása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a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megfelelő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újrahasznosítási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csatornákba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és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gyűjtőszigetekre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8284" y="4512352"/>
            <a:ext cx="247650" cy="247650"/>
          </a:xfrm>
          <a:prstGeom prst="rect">
            <a:avLst/>
          </a:prstGeom>
        </p:spPr>
      </p:pic>
      <p:pic>
        <p:nvPicPr>
          <p:cNvPr id="23" name="Picture 3" descr="image.png">
            <a:extLst>
              <a:ext uri="{FF2B5EF4-FFF2-40B4-BE49-F238E27FC236}">
                <a16:creationId xmlns:a16="http://schemas.microsoft.com/office/drawing/2014/main" id="{A46505A9-2CCF-7180-EFD9-DF76DAE40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33837"/>
            <a:ext cx="3228975" cy="2755265"/>
          </a:xfrm>
          <a:prstGeom prst="rect">
            <a:avLst/>
          </a:prstGeom>
        </p:spPr>
      </p:pic>
      <p:pic>
        <p:nvPicPr>
          <p:cNvPr id="24" name="Picture 11" descr="image.png">
            <a:extLst>
              <a:ext uri="{FF2B5EF4-FFF2-40B4-BE49-F238E27FC236}">
                <a16:creationId xmlns:a16="http://schemas.microsoft.com/office/drawing/2014/main" id="{9893A7D5-83FA-1FB7-679C-158CC3E9FF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84" y="4353609"/>
            <a:ext cx="571500" cy="571500"/>
          </a:xfrm>
          <a:prstGeom prst="rect">
            <a:avLst/>
          </a:prstGeom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734F8227-82AA-10D3-D9C8-56F62043EFAA}"/>
              </a:ext>
            </a:extLst>
          </p:cNvPr>
          <p:cNvSpPr txBox="1"/>
          <p:nvPr/>
        </p:nvSpPr>
        <p:spPr>
          <a:xfrm>
            <a:off x="840665" y="5092451"/>
            <a:ext cx="256032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u-HU" dirty="0">
                <a:solidFill>
                  <a:srgbClr val="0F5132"/>
                </a:solidFill>
                <a:latin typeface="Outfit SemiBold"/>
              </a:rPr>
              <a:t>4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. R</a:t>
            </a:r>
            <a:r>
              <a:rPr lang="hu-HU" sz="1800" b="0" i="0" u="none" dirty="0" err="1">
                <a:solidFill>
                  <a:srgbClr val="0F5132"/>
                </a:solidFill>
                <a:latin typeface="Outfit SemiBold"/>
              </a:rPr>
              <a:t>ot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 (</a:t>
            </a:r>
            <a:r>
              <a:rPr lang="hu-HU" dirty="0">
                <a:solidFill>
                  <a:srgbClr val="0F5132"/>
                </a:solidFill>
                <a:latin typeface="Outfit SemiBold"/>
              </a:rPr>
              <a:t>Komposztálj</a:t>
            </a:r>
            <a:r>
              <a:rPr sz="1800" b="0" i="0" u="none" dirty="0">
                <a:solidFill>
                  <a:srgbClr val="0F5132"/>
                </a:solidFill>
                <a:latin typeface="Outfit SemiBold"/>
              </a:rPr>
              <a:t>)</a:t>
            </a: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3C529744-CE04-7FC4-337B-3703434EE6E9}"/>
              </a:ext>
            </a:extLst>
          </p:cNvPr>
          <p:cNvSpPr txBox="1"/>
          <p:nvPr/>
        </p:nvSpPr>
        <p:spPr>
          <a:xfrm>
            <a:off x="840665" y="5548510"/>
            <a:ext cx="2933700" cy="1004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lang="hu-HU" sz="1275" b="0" i="0" u="none" dirty="0">
                <a:solidFill>
                  <a:srgbClr val="334155"/>
                </a:solidFill>
                <a:latin typeface="Plus Jakarta Sans"/>
              </a:rPr>
              <a:t>Ne hagyd a szerves hulladékot a szemetesben kikötni! Komposztálással a konyhai hulladékból értékes tápanyag válik, ami visszatér a természetes körforgásba.</a:t>
            </a: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27" name="Picture 11" descr="image.png">
            <a:extLst>
              <a:ext uri="{FF2B5EF4-FFF2-40B4-BE49-F238E27FC236}">
                <a16:creationId xmlns:a16="http://schemas.microsoft.com/office/drawing/2014/main" id="{C2DAE444-EAD0-71EF-456B-3D0990C74B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9844" y="1397823"/>
            <a:ext cx="571500" cy="571500"/>
          </a:xfrm>
          <a:prstGeom prst="rect">
            <a:avLst/>
          </a:prstGeom>
        </p:spPr>
      </p:pic>
      <p:pic>
        <p:nvPicPr>
          <p:cNvPr id="29" name="Kép 28">
            <a:extLst>
              <a:ext uri="{FF2B5EF4-FFF2-40B4-BE49-F238E27FC236}">
                <a16:creationId xmlns:a16="http://schemas.microsoft.com/office/drawing/2014/main" id="{DDA83A96-ECE6-B61F-35D7-5A7C96E8EF8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129" y="1491376"/>
            <a:ext cx="342930" cy="358171"/>
          </a:xfrm>
          <a:prstGeom prst="rect">
            <a:avLst/>
          </a:prstGeom>
        </p:spPr>
      </p:pic>
      <p:pic>
        <p:nvPicPr>
          <p:cNvPr id="31" name="Kép 30">
            <a:extLst>
              <a:ext uri="{FF2B5EF4-FFF2-40B4-BE49-F238E27FC236}">
                <a16:creationId xmlns:a16="http://schemas.microsoft.com/office/drawing/2014/main" id="{D46D2474-E894-7BC0-8386-924E528A7B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4100" y="4445660"/>
            <a:ext cx="342930" cy="3810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8" grpId="0"/>
      <p:bldP spid="19" grpId="0"/>
      <p:bldP spid="20" grpId="0"/>
      <p:bldP spid="21" grpId="0"/>
      <p:bldP spid="13" grpId="0"/>
      <p:bldP spid="1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6062"/>
            <a:ext cx="5334000" cy="1952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176587"/>
            <a:ext cx="4552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sz="6750" b="0" i="0" u="none">
                <a:solidFill>
                  <a:srgbClr val="047857"/>
                </a:solidFill>
                <a:latin typeface="Outfit ExtraBold"/>
              </a:rPr>
              <a:t>65 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129087"/>
            <a:ext cx="45529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34155"/>
                </a:solidFill>
                <a:latin typeface="Plus Jakarta Sans"/>
              </a:rPr>
              <a:t>Élelmiszerhulladék / fő / év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809577"/>
            <a:ext cx="5600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5132"/>
                </a:solidFill>
                <a:latin typeface="Outfit SemiBold"/>
              </a:rPr>
              <a:t>Élelmiszertudatosság és Hatásai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209627"/>
            <a:ext cx="53340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A NÉBIH </a:t>
            </a:r>
            <a:r>
              <a:rPr sz="1275" b="0" i="1" u="none">
                <a:solidFill>
                  <a:srgbClr val="334155"/>
                </a:solidFill>
                <a:latin typeface="Plus Jakarta Sans"/>
              </a:rPr>
              <a:t>Maradék nélkül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programjának adatai szerint egy átlagos magyar állampolgár évente 65 kg élelmiszert pazarol el, aminek több mint a fele ésszerű odafigyeléssel megelőzhető lenne.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62400"/>
            <a:ext cx="53340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Gyakorlati megoldások: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Bevásárlólista készítése, a "minőségét megőrzi" és "fogyasztható" jelzések megkülönböztetése, fagyasztás és komposztálás.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64E3B"/>
                </a:solidFill>
                <a:latin typeface="Outfit"/>
              </a:rPr>
              <a:t>Élelmiszerpazarlás a Háztartásokban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64E3B"/>
                </a:solidFill>
                <a:latin typeface="Outfit"/>
              </a:rPr>
              <a:t>Zöld Városi Mobilitás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0001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809577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5132"/>
                </a:solidFill>
                <a:latin typeface="Outfit SemiBold"/>
              </a:rPr>
              <a:t>Fenntartható Közlekedés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09627"/>
            <a:ext cx="528637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A városi személyi közlekedés az egyéni szén-dioxid-kibocsátás egyik legfőbb forrása. A közösségi közlekedés és a mikromobilitás választása közvetlen pozitív hatást gyakorol a levegőminőségre.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962400"/>
            <a:ext cx="528637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A kerékpározás és a gyaloglás nemcsak zéró emissziós opciók, de jelentősen hozzájárulnak a fizikai egészség és életminőség javításához is.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43000"/>
            <a:ext cx="11049000" cy="523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037087"/>
            <a:ext cx="11049000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6"/>
              </a:lnSpc>
            </a:pPr>
            <a:r>
              <a:rPr sz="1275" b="0" i="1" u="none">
                <a:solidFill>
                  <a:srgbClr val="334155"/>
                </a:solidFill>
                <a:latin typeface="Plus Jakarta Sans"/>
              </a:rPr>
              <a:t>Forrás: KSH &amp; Megelőzési Stratégiai Adatok. A háztartási hulladék mintegy 90%-a szelektálható vagy komposztálható lenne.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64E3B"/>
                </a:solidFill>
                <a:latin typeface="Outfit"/>
              </a:rPr>
              <a:t>Háztartási Hulladék Megoszlása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4562"/>
            <a:ext cx="11049000" cy="30956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224087"/>
          <a:ext cx="11029948" cy="3076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7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762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64E3B"/>
                          </a:solidFill>
                          <a:latin typeface="Outfit"/>
                        </a:rPr>
                        <a:t>Forrás Intézmény / Szervezet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64E3B"/>
                          </a:solidFill>
                          <a:latin typeface="Outfit"/>
                        </a:rPr>
                        <a:t>Típus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64E3B"/>
                          </a:solidFill>
                          <a:latin typeface="Outfit"/>
                        </a:rPr>
                        <a:t>Fő Adatkör / Fókusz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KSH (Központi Statisztikai Hivatal)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Statisztikai adattár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Karbonlábnyom, SDG fenntarthatósági indikátorok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WWF Magyarország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Civil természetvédelmi szervezet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Túlfogyasztás napja, lakossági attitűdfelmérések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EEA (Európai Környezetvédelmi Ügynökség)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EU Szakhatóság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Klíma- és kibocsátási mutatók, energiahatékonyság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NÉBIH (Maradék nélkül)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Állami szakhatóság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Élelmiszerpazarlási adatok és háztartási megelőzés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MEKH (Energiahivatal)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Szabályozó hatóság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Lakossági energiafelhasználás és megtakarítás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724150"/>
            <a:ext cx="38068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7899" y="2724150"/>
            <a:ext cx="28951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83053" y="2724150"/>
            <a:ext cx="432792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238500"/>
            <a:ext cx="38068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7899" y="3238500"/>
            <a:ext cx="28951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83053" y="3238500"/>
            <a:ext cx="432792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3752850"/>
            <a:ext cx="38068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7899" y="3752850"/>
            <a:ext cx="28951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83053" y="3752850"/>
            <a:ext cx="432792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267200"/>
            <a:ext cx="38068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7899" y="4267200"/>
            <a:ext cx="28951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83053" y="4267200"/>
            <a:ext cx="432792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781550"/>
            <a:ext cx="38068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7899" y="4781550"/>
            <a:ext cx="28951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83053" y="4781550"/>
            <a:ext cx="432792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64E3B"/>
                </a:solidFill>
                <a:latin typeface="Outfit"/>
              </a:rPr>
              <a:t>Hivatalos Források Megjelölése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48125"/>
            <a:ext cx="2541240" cy="1255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221408"/>
            <a:ext cx="2541240" cy="12552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48125"/>
            <a:ext cx="2541240" cy="12552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408039"/>
            <a:ext cx="2541240" cy="10685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4332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995" y="4248150"/>
            <a:ext cx="22482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47857"/>
                </a:solidFill>
                <a:latin typeface="Outfit SemiBold"/>
              </a:rPr>
              <a:t>1. Auditálás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543425"/>
            <a:ext cx="21411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Saját ökológiai lábnyom kiszámítása és a felesleges fogyasztás azonosítása.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2421433"/>
            <a:ext cx="22482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47857"/>
                </a:solidFill>
                <a:latin typeface="Outfit SemiBold"/>
              </a:rPr>
              <a:t>2. Gyors Lépések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716708"/>
            <a:ext cx="21411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Szelektív gyűjtés elindítása, LED izzók, saját kulacs és szatyor használata.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4248150"/>
            <a:ext cx="22482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47857"/>
                </a:solidFill>
                <a:latin typeface="Outfit SemiBold"/>
              </a:rPr>
              <a:t>3. Szokásváltás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543425"/>
            <a:ext cx="21411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Fenntartható mobilitás, helyi élelmiszer-vásárlás és energiaracionalizálás.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2608064"/>
            <a:ext cx="22482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47857"/>
                </a:solidFill>
                <a:latin typeface="Outfit SemiBold"/>
              </a:rPr>
              <a:t>4. Szemléletformálás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903339"/>
            <a:ext cx="214119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Jó gyakorlatok megosztása az iskolai és családi közösségekben.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64E3B"/>
                </a:solidFill>
                <a:latin typeface="Outfit"/>
              </a:rPr>
              <a:t>Út az Ökotudatos Életmódig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37345" y="3657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3265" y="3657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09184" y="3657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45104" y="3657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 dirty="0" err="1">
                <a:solidFill>
                  <a:srgbClr val="064E3B"/>
                </a:solidFill>
                <a:latin typeface="Outfit"/>
              </a:rPr>
              <a:t>Köszönjük</a:t>
            </a:r>
            <a:r>
              <a:rPr sz="5100" b="1" i="0" u="none" dirty="0">
                <a:solidFill>
                  <a:srgbClr val="064E3B"/>
                </a:solidFill>
                <a:latin typeface="Outfit"/>
              </a:rPr>
              <a:t> a </a:t>
            </a:r>
            <a:r>
              <a:rPr sz="5100" b="1" i="0" u="none" dirty="0" err="1">
                <a:solidFill>
                  <a:srgbClr val="064E3B"/>
                </a:solidFill>
                <a:latin typeface="Outfit"/>
              </a:rPr>
              <a:t>Figyelmet</a:t>
            </a:r>
            <a:r>
              <a:rPr sz="5100" b="1" i="0" u="none" dirty="0">
                <a:solidFill>
                  <a:srgbClr val="064E3B"/>
                </a:solidFill>
                <a:latin typeface="Outfit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38275"/>
            <a:ext cx="11049000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Tegyünk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együtt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a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fenntartható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jövőért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mindennapi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047857"/>
                </a:solidFill>
                <a:latin typeface="Plus Jakarta Sans"/>
              </a:rPr>
              <a:t>döntéseinkkel</a:t>
            </a:r>
            <a:r>
              <a:rPr sz="1650" b="0" i="0" u="none" dirty="0">
                <a:solidFill>
                  <a:srgbClr val="047857"/>
                </a:solidFill>
                <a:latin typeface="Plus Jakarta Sans"/>
              </a:rPr>
              <a:t>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462" y="2076896"/>
            <a:ext cx="219075" cy="171450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8AF7C124-55FC-3D48-0035-9B7D6585A410}"/>
              </a:ext>
            </a:extLst>
          </p:cNvPr>
          <p:cNvSpPr txBox="1"/>
          <p:nvPr/>
        </p:nvSpPr>
        <p:spPr>
          <a:xfrm>
            <a:off x="571500" y="2248346"/>
            <a:ext cx="110490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hu-HU" sz="1400" b="1" i="0" u="none" dirty="0">
                <a:solidFill>
                  <a:srgbClr val="047857"/>
                </a:solidFill>
                <a:latin typeface="Plus Jakarta Sans"/>
              </a:rPr>
              <a:t>Készítők</a:t>
            </a:r>
          </a:p>
          <a:p>
            <a:pPr algn="ctr"/>
            <a:r>
              <a:rPr lang="hu-HU" sz="1400" dirty="0" err="1">
                <a:latin typeface="Plus Jakarta Sans"/>
              </a:rPr>
              <a:t>Szlifka</a:t>
            </a:r>
            <a:r>
              <a:rPr lang="hu-HU" sz="1400" dirty="0">
                <a:latin typeface="Plus Jakarta Sans"/>
              </a:rPr>
              <a:t> Szilveszter</a:t>
            </a:r>
          </a:p>
          <a:p>
            <a:pPr algn="ctr"/>
            <a:r>
              <a:rPr lang="hu-HU" sz="1400" b="0" i="0" u="none" dirty="0">
                <a:latin typeface="Plus Jakarta Sans"/>
              </a:rPr>
              <a:t>Nagy Dávid Viktor</a:t>
            </a:r>
            <a:endParaRPr sz="1400" b="0" i="0" u="none" dirty="0">
              <a:latin typeface="Plus Jakarta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956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757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757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384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38785"/>
            <a:ext cx="99536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https://koala.sh/api/image/v2-bs1oz-sn3qi.jpg?width=1216&amp;height=832&amp;dream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378249"/>
            <a:ext cx="995362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learningmole.com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00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910310"/>
            <a:ext cx="99536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https://changing-transport.org/wp-content/uploads/Car-Free-Day-Kigali-17-March-2024-Paul-Kagame.jpg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149774"/>
            <a:ext cx="995362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changing-transport.org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hu-HU" sz="2700" b="1" dirty="0">
                <a:solidFill>
                  <a:srgbClr val="064E3B"/>
                </a:solidFill>
                <a:latin typeface="Outfit"/>
              </a:rPr>
              <a:t>Képek forrása</a:t>
            </a:r>
            <a:endParaRPr sz="2700" b="1" i="0" u="none" dirty="0">
              <a:solidFill>
                <a:srgbClr val="064E3B"/>
              </a:solidFill>
              <a:latin typeface="Outfi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686</Words>
  <Application>Microsoft Office PowerPoint</Application>
  <PresentationFormat>Szélesvásznú</PresentationFormat>
  <Paragraphs>86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21" baseType="lpstr">
      <vt:lpstr>Arial</vt:lpstr>
      <vt:lpstr>Calibri</vt:lpstr>
      <vt:lpstr>Outfit</vt:lpstr>
      <vt:lpstr>Outfit ExtraBold</vt:lpstr>
      <vt:lpstr>Outfit SemiBold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Dávid Nagy</cp:lastModifiedBy>
  <cp:revision>37</cp:revision>
  <dcterms:created xsi:type="dcterms:W3CDTF">2013-01-27T09:14:16Z</dcterms:created>
  <dcterms:modified xsi:type="dcterms:W3CDTF">2026-08-28T08:02:07Z</dcterms:modified>
  <cp:category/>
</cp:coreProperties>
</file>